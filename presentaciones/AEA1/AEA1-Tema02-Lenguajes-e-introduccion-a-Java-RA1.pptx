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21bf9371064db0" /><Relationship Type="http://schemas.openxmlformats.org/officeDocument/2006/relationships/extended-properties" Target="/docProps/app.xml" Id="Rde1e1d08ed5f4daa" /><Relationship Type="http://schemas.openxmlformats.org/officeDocument/2006/relationships/officeDocument" Target="/ppt/presentation.xml" Id="R4276069c97b64e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bcfaaa3784199"/>
  </p:sldMasterIdLst>
  <p:notesMasterIdLst>
    <p:notesMasterId xmlns:r="http://schemas.openxmlformats.org/officeDocument/2006/relationships" r:id="Rfba7110106714f0f"/>
  </p:notesMasterIdLst>
  <p:sldIdLst>
    <p:sldId xmlns:r="http://schemas.openxmlformats.org/officeDocument/2006/relationships" id="256" r:id="Ra4c6be785cbc487b"/>
    <p:sldId xmlns:r="http://schemas.openxmlformats.org/officeDocument/2006/relationships" id="257" r:id="R01526963a7c54f1d"/>
    <p:sldId xmlns:r="http://schemas.openxmlformats.org/officeDocument/2006/relationships" id="258" r:id="Re4ae3b281cd94093"/>
    <p:sldId xmlns:r="http://schemas.openxmlformats.org/officeDocument/2006/relationships" id="259" r:id="R9f25a30fcaae474f"/>
    <p:sldId xmlns:r="http://schemas.openxmlformats.org/officeDocument/2006/relationships" id="260" r:id="R51835f4537a24056"/>
    <p:sldId xmlns:r="http://schemas.openxmlformats.org/officeDocument/2006/relationships" id="261" r:id="Red3e7f64f72b4a0b"/>
    <p:sldId xmlns:r="http://schemas.openxmlformats.org/officeDocument/2006/relationships" id="262" r:id="R3c4d1746228b4ef1"/>
    <p:sldId xmlns:r="http://schemas.openxmlformats.org/officeDocument/2006/relationships" id="263" r:id="Rcd6e1e68d0984828"/>
    <p:sldId xmlns:r="http://schemas.openxmlformats.org/officeDocument/2006/relationships" id="264" r:id="R9d219cc689254b26"/>
    <p:sldId xmlns:r="http://schemas.openxmlformats.org/officeDocument/2006/relationships" id="265" r:id="Rc7c85e39c1794f8a"/>
    <p:sldId xmlns:r="http://schemas.openxmlformats.org/officeDocument/2006/relationships" id="266" r:id="Ra4159fb785c64160"/>
    <p:sldId xmlns:r="http://schemas.openxmlformats.org/officeDocument/2006/relationships" id="267" r:id="Rb9472f97c7694155"/>
    <p:sldId xmlns:r="http://schemas.openxmlformats.org/officeDocument/2006/relationships" id="268" r:id="Rb65251e0a75f4401"/>
    <p:sldId xmlns:r="http://schemas.openxmlformats.org/officeDocument/2006/relationships" id="269" r:id="R38a80ad88f6445fd"/>
    <p:sldId xmlns:r="http://schemas.openxmlformats.org/officeDocument/2006/relationships" id="270" r:id="R1887b9eca42b4b5e"/>
    <p:sldId xmlns:r="http://schemas.openxmlformats.org/officeDocument/2006/relationships" id="271" r:id="Rcf85b2b6f6224549"/>
    <p:sldId xmlns:r="http://schemas.openxmlformats.org/officeDocument/2006/relationships" id="272" r:id="R522eeb635e7047d6"/>
    <p:sldId xmlns:r="http://schemas.openxmlformats.org/officeDocument/2006/relationships" id="273" r:id="R6e8bc9fad76b4f8d"/>
    <p:sldId xmlns:r="http://schemas.openxmlformats.org/officeDocument/2006/relationships" id="274" r:id="R95289f37316c4f73"/>
    <p:sldId xmlns:r="http://schemas.openxmlformats.org/officeDocument/2006/relationships" id="275" r:id="Ra249bfbb46914b20"/>
    <p:sldId xmlns:r="http://schemas.openxmlformats.org/officeDocument/2006/relationships" id="276" r:id="R5974ac53a0d74759"/>
    <p:sldId xmlns:r="http://schemas.openxmlformats.org/officeDocument/2006/relationships" id="277" r:id="R8389deae485d4c24"/>
    <p:sldId xmlns:r="http://schemas.openxmlformats.org/officeDocument/2006/relationships" id="278" r:id="R5b0d9fbe80464731"/>
    <p:sldId xmlns:r="http://schemas.openxmlformats.org/officeDocument/2006/relationships" id="279" r:id="R6429646bfa7e4d0b"/>
    <p:sldId xmlns:r="http://schemas.openxmlformats.org/officeDocument/2006/relationships" id="280" r:id="R07ba891988d74b7f"/>
    <p:sldId xmlns:r="http://schemas.openxmlformats.org/officeDocument/2006/relationships" id="281" r:id="Rce1d1ce618964ed5"/>
    <p:sldId xmlns:r="http://schemas.openxmlformats.org/officeDocument/2006/relationships" id="282" r:id="R58f90516bc164e95"/>
    <p:sldId xmlns:r="http://schemas.openxmlformats.org/officeDocument/2006/relationships" id="283" r:id="Ra68101f75a3c42ea"/>
    <p:sldId xmlns:r="http://schemas.openxmlformats.org/officeDocument/2006/relationships" id="284" r:id="R65bcd27e49a04a08"/>
    <p:sldId xmlns:r="http://schemas.openxmlformats.org/officeDocument/2006/relationships" id="285" r:id="R2ddc24d70d544c81"/>
    <p:sldId xmlns:r="http://schemas.openxmlformats.org/officeDocument/2006/relationships" id="286" r:id="R94cec9f1d179409f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28314b5c14012" /><Relationship Type="http://schemas.openxmlformats.org/officeDocument/2006/relationships/slideMaster" Target="/ppt/slideMasters/slideMaster1.xml" Id="R017bcfaaa3784199" /><Relationship Type="http://schemas.openxmlformats.org/officeDocument/2006/relationships/notesMaster" Target="/ppt/notesMasters/notesMaster1.xml" Id="Rfba7110106714f0f" /><Relationship Type="http://schemas.openxmlformats.org/officeDocument/2006/relationships/presProps" Target="/ppt/presProps.xml" Id="R5e4787f4f5fe4004" /><Relationship Type="http://schemas.openxmlformats.org/officeDocument/2006/relationships/viewProps" Target="/ppt/viewProps.xml" Id="Rcd8ac6b827644946" /><Relationship Type="http://schemas.openxmlformats.org/officeDocument/2006/relationships/tableStyles" Target="/ppt/tableStyles.xml" Id="Rf52f954fb69346ee" /><Relationship Type="http://schemas.openxmlformats.org/officeDocument/2006/relationships/slide" Target="/ppt/slides/slide1.xml" Id="Ra4c6be785cbc487b" /><Relationship Type="http://schemas.openxmlformats.org/officeDocument/2006/relationships/slide" Target="/ppt/slides/slide2.xml" Id="R01526963a7c54f1d" /><Relationship Type="http://schemas.openxmlformats.org/officeDocument/2006/relationships/slide" Target="/ppt/slides/slide3.xml" Id="Re4ae3b281cd94093" /><Relationship Type="http://schemas.openxmlformats.org/officeDocument/2006/relationships/slide" Target="/ppt/slides/slide4.xml" Id="R9f25a30fcaae474f" /><Relationship Type="http://schemas.openxmlformats.org/officeDocument/2006/relationships/slide" Target="/ppt/slides/slide5.xml" Id="R51835f4537a24056" /><Relationship Type="http://schemas.openxmlformats.org/officeDocument/2006/relationships/slide" Target="/ppt/slides/slide6.xml" Id="Red3e7f64f72b4a0b" /><Relationship Type="http://schemas.openxmlformats.org/officeDocument/2006/relationships/slide" Target="/ppt/slides/slide7.xml" Id="R3c4d1746228b4ef1" /><Relationship Type="http://schemas.openxmlformats.org/officeDocument/2006/relationships/slide" Target="/ppt/slides/slide8.xml" Id="Rcd6e1e68d0984828" /><Relationship Type="http://schemas.openxmlformats.org/officeDocument/2006/relationships/slide" Target="/ppt/slides/slide9.xml" Id="R9d219cc689254b26" /><Relationship Type="http://schemas.openxmlformats.org/officeDocument/2006/relationships/slide" Target="/ppt/slides/slide10.xml" Id="Rc7c85e39c1794f8a" /><Relationship Type="http://schemas.openxmlformats.org/officeDocument/2006/relationships/slide" Target="/ppt/slides/slide11.xml" Id="Ra4159fb785c64160" /><Relationship Type="http://schemas.openxmlformats.org/officeDocument/2006/relationships/slide" Target="/ppt/slides/slide12.xml" Id="Rb9472f97c7694155" /><Relationship Type="http://schemas.openxmlformats.org/officeDocument/2006/relationships/slide" Target="/ppt/slides/slide13.xml" Id="Rb65251e0a75f4401" /><Relationship Type="http://schemas.openxmlformats.org/officeDocument/2006/relationships/slide" Target="/ppt/slides/slide14.xml" Id="R38a80ad88f6445fd" /><Relationship Type="http://schemas.openxmlformats.org/officeDocument/2006/relationships/slide" Target="/ppt/slides/slide15.xml" Id="R1887b9eca42b4b5e" /><Relationship Type="http://schemas.openxmlformats.org/officeDocument/2006/relationships/slide" Target="/ppt/slides/slide16.xml" Id="Rcf85b2b6f6224549" /><Relationship Type="http://schemas.openxmlformats.org/officeDocument/2006/relationships/slide" Target="/ppt/slides/slide17.xml" Id="R522eeb635e7047d6" /><Relationship Type="http://schemas.openxmlformats.org/officeDocument/2006/relationships/slide" Target="/ppt/slides/slide18.xml" Id="R6e8bc9fad76b4f8d" /><Relationship Type="http://schemas.openxmlformats.org/officeDocument/2006/relationships/slide" Target="/ppt/slides/slide19.xml" Id="R95289f37316c4f73" /><Relationship Type="http://schemas.openxmlformats.org/officeDocument/2006/relationships/slide" Target="/ppt/slides/slide20.xml" Id="Ra249bfbb46914b20" /><Relationship Type="http://schemas.openxmlformats.org/officeDocument/2006/relationships/slide" Target="/ppt/slides/slide21.xml" Id="R5974ac53a0d74759" /><Relationship Type="http://schemas.openxmlformats.org/officeDocument/2006/relationships/slide" Target="/ppt/slides/slide22.xml" Id="R8389deae485d4c24" /><Relationship Type="http://schemas.openxmlformats.org/officeDocument/2006/relationships/slide" Target="/ppt/slides/slide23.xml" Id="R5b0d9fbe80464731" /><Relationship Type="http://schemas.openxmlformats.org/officeDocument/2006/relationships/slide" Target="/ppt/slides/slide24.xml" Id="R6429646bfa7e4d0b" /><Relationship Type="http://schemas.openxmlformats.org/officeDocument/2006/relationships/slide" Target="/ppt/slides/slide25.xml" Id="R07ba891988d74b7f" /><Relationship Type="http://schemas.openxmlformats.org/officeDocument/2006/relationships/slide" Target="/ppt/slides/slide26.xml" Id="Rce1d1ce618964ed5" /><Relationship Type="http://schemas.openxmlformats.org/officeDocument/2006/relationships/slide" Target="/ppt/slides/slide27.xml" Id="R58f90516bc164e95" /><Relationship Type="http://schemas.openxmlformats.org/officeDocument/2006/relationships/slide" Target="/ppt/slides/slide28.xml" Id="Ra68101f75a3c42ea" /><Relationship Type="http://schemas.openxmlformats.org/officeDocument/2006/relationships/slide" Target="/ppt/slides/slide29.xml" Id="R65bcd27e49a04a08" /><Relationship Type="http://schemas.openxmlformats.org/officeDocument/2006/relationships/slide" Target="/ppt/slides/slide30.xml" Id="R2ddc24d70d544c81" /><Relationship Type="http://schemas.openxmlformats.org/officeDocument/2006/relationships/slide" Target="/ppt/slides/slide31.xml" Id="R94cec9f1d179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23d0dc5a944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93be446924cb7" /><Relationship Type="http://schemas.openxmlformats.org/officeDocument/2006/relationships/notesMaster" Target="/ppt/notesMasters/notesMaster1.xml" Id="R4eb5d983b235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86e0c0d9254f96" /><Relationship Type="http://schemas.openxmlformats.org/officeDocument/2006/relationships/notesMaster" Target="/ppt/notesMasters/notesMaster1.xml" Id="Rf874db598745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d4e5de8dd47d1" /><Relationship Type="http://schemas.openxmlformats.org/officeDocument/2006/relationships/notesMaster" Target="/ppt/notesMasters/notesMaster1.xml" Id="R8ec85d09698b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0bb2d567ad4b49" /><Relationship Type="http://schemas.openxmlformats.org/officeDocument/2006/relationships/notesMaster" Target="/ppt/notesMasters/notesMaster1.xml" Id="R67ad1df2005841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8960604dd46a5" /><Relationship Type="http://schemas.openxmlformats.org/officeDocument/2006/relationships/notesMaster" Target="/ppt/notesMasters/notesMaster1.xml" Id="Rc7cd87f6d9ac41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8e2c5f62774841" /><Relationship Type="http://schemas.openxmlformats.org/officeDocument/2006/relationships/notesMaster" Target="/ppt/notesMasters/notesMaster1.xml" Id="R53dff87def564f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d2a5e7f48d43ce" /><Relationship Type="http://schemas.openxmlformats.org/officeDocument/2006/relationships/notesMaster" Target="/ppt/notesMasters/notesMaster1.xml" Id="Rc991e984f953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b0249ca2a49f8" /><Relationship Type="http://schemas.openxmlformats.org/officeDocument/2006/relationships/notesMaster" Target="/ppt/notesMasters/notesMaster1.xml" Id="R800d677b459a4e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5eab69cd2453d" /><Relationship Type="http://schemas.openxmlformats.org/officeDocument/2006/relationships/notesMaster" Target="/ppt/notesMasters/notesMaster1.xml" Id="R64f9a975d5de4d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0281aa6324202" /><Relationship Type="http://schemas.openxmlformats.org/officeDocument/2006/relationships/notesMaster" Target="/ppt/notesMasters/notesMaster1.xml" Id="R905659aed0124d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3e310ab0d341d3" /><Relationship Type="http://schemas.openxmlformats.org/officeDocument/2006/relationships/notesMaster" Target="/ppt/notesMasters/notesMaster1.xml" Id="R106e71aa47b840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8c9a254fc6418b" /><Relationship Type="http://schemas.openxmlformats.org/officeDocument/2006/relationships/notesMaster" Target="/ppt/notesMasters/notesMaster1.xml" Id="Rb04e06450b5a45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d65240026c4731" /><Relationship Type="http://schemas.openxmlformats.org/officeDocument/2006/relationships/notesMaster" Target="/ppt/notesMasters/notesMaster1.xml" Id="R547a65d9838842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417e26f7f34212" /><Relationship Type="http://schemas.openxmlformats.org/officeDocument/2006/relationships/notesMaster" Target="/ppt/notesMasters/notesMaster1.xml" Id="R78812427c61742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7123412949480d" /><Relationship Type="http://schemas.openxmlformats.org/officeDocument/2006/relationships/notesMaster" Target="/ppt/notesMasters/notesMaster1.xml" Id="R555481af5066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ff76544a7d4bbb" /><Relationship Type="http://schemas.openxmlformats.org/officeDocument/2006/relationships/notesMaster" Target="/ppt/notesMasters/notesMaster1.xml" Id="R6a009de59fa148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678149341945b0" /><Relationship Type="http://schemas.openxmlformats.org/officeDocument/2006/relationships/notesMaster" Target="/ppt/notesMasters/notesMaster1.xml" Id="R43e5d855995949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f5b63a73d949ed" /><Relationship Type="http://schemas.openxmlformats.org/officeDocument/2006/relationships/notesMaster" Target="/ppt/notesMasters/notesMaster1.xml" Id="R11a1537b23f24c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12a6a5bc754346" /><Relationship Type="http://schemas.openxmlformats.org/officeDocument/2006/relationships/notesMaster" Target="/ppt/notesMasters/notesMaster1.xml" Id="R162c0b2412f546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d45c64760d4a64" /><Relationship Type="http://schemas.openxmlformats.org/officeDocument/2006/relationships/notesMaster" Target="/ppt/notesMasters/notesMaster1.xml" Id="Rc7a615d791524a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94332baf4b47a1" /><Relationship Type="http://schemas.openxmlformats.org/officeDocument/2006/relationships/notesMaster" Target="/ppt/notesMasters/notesMaster1.xml" Id="Rc4a99129c87a41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b1345aa5574830" /><Relationship Type="http://schemas.openxmlformats.org/officeDocument/2006/relationships/notesMaster" Target="/ppt/notesMasters/notesMaster1.xml" Id="Rb15fd772394f43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9bf1f8ce144e08" /><Relationship Type="http://schemas.openxmlformats.org/officeDocument/2006/relationships/notesMaster" Target="/ppt/notesMasters/notesMaster1.xml" Id="R77c589c75d2c42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a05062d9cd41ce" /><Relationship Type="http://schemas.openxmlformats.org/officeDocument/2006/relationships/notesMaster" Target="/ppt/notesMasters/notesMaster1.xml" Id="R31184f658e534d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6a3ae7a1994da1" /><Relationship Type="http://schemas.openxmlformats.org/officeDocument/2006/relationships/notesMaster" Target="/ppt/notesMasters/notesMaster1.xml" Id="R6fab6c3415c647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38b922c30f4501" /><Relationship Type="http://schemas.openxmlformats.org/officeDocument/2006/relationships/notesMaster" Target="/ppt/notesMasters/notesMaster1.xml" Id="R764bd70d09fd45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b0d9dd749149c0" /><Relationship Type="http://schemas.openxmlformats.org/officeDocument/2006/relationships/notesMaster" Target="/ppt/notesMasters/notesMaster1.xml" Id="R525b5a80c25845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2127dfc21242c0" /><Relationship Type="http://schemas.openxmlformats.org/officeDocument/2006/relationships/notesMaster" Target="/ppt/notesMasters/notesMaster1.xml" Id="R0c94de5556534d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fc0dc1d8c4d43dd" /><Relationship Type="http://schemas.openxmlformats.org/officeDocument/2006/relationships/notesMaster" Target="/ppt/notesMasters/notesMaster1.xml" Id="R93ec7c0e254e4a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66ebce52664e32" /><Relationship Type="http://schemas.openxmlformats.org/officeDocument/2006/relationships/notesMaster" Target="/ppt/notesMasters/notesMaster1.xml" Id="R3c03560f54604a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c81b99c481846c2" /><Relationship Type="http://schemas.openxmlformats.org/officeDocument/2006/relationships/notesMaster" Target="/ppt/notesMasters/notesMaster1.xml" Id="R9b4e1db0e4dd4b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https://docs.python.org/3/library/dis.html</a:t>
            </a:r>
          </a:p>
          <a:p xmlns:a="http://schemas.openxmlformats.org/drawingml/2006/main">
            <a:r>
              <a:t>- https://docs.python.org/3/using/cmdline.html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https://docs.oracle.com/en/java/javase/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https://docs.oracle.com/en/java/javase/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https://jakarta.ee/</a:t>
            </a:r>
          </a:p>
          <a:p xmlns:a="http://schemas.openxmlformats.org/drawingml/2006/main">
            <a:r>
              <a:t>- https://www.oracle.com/java/technologies/javameoverview.html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https://openjdk.org/</a:t>
            </a:r>
          </a:p>
          <a:p xmlns:a="http://schemas.openxmlformats.org/drawingml/2006/main">
            <a:r>
              <a:t>- https://www.oracle.com/java/technologies/downloads/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https://openai.com/codex/</a:t>
            </a:r>
          </a:p>
          <a:p xmlns:a="http://schemas.openxmlformats.org/drawingml/2006/main">
            <a:r>
              <a:t>- https://docs.github.com/en/copilot</a:t>
            </a:r>
          </a:p>
          <a:p xmlns:a="http://schemas.openxmlformats.org/drawingml/2006/main">
            <a:r>
              <a:t>- https://docs.anthropic.com/en/docs/claude-code/overview</a:t>
            </a:r>
            <a:endParaRPr/>
          </a:p>
          <a:p xmlns:a="http://schemas.openxmlformats.org/drawingml/2006/main">
            <a:r>
              <a:t>- https://www.jetbrains.com/ai/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https://docs.oracle.com/en/java/javase/25/javadoc/javadoc.html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https://youtu.be/CauENcmaL80</a:t>
            </a:r>
          </a:p>
          <a:p xmlns:a="http://schemas.openxmlformats.org/drawingml/2006/main">
            <a:r>
              <a:t>- https://youtu.be/mksMlTrV8QA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Tema 01-RA1- Conceptes Bàsics de la Progamació.pdf, página(s) 15. Se conserva la redacción salvo correcciones técnicas, ortográficas y actualizaciones solicitadas.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Material docente Monlau y programación final 2026–2027 aportados por la docente.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2dc1ffb66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ab9036a4047d6" /><Relationship Type="http://schemas.openxmlformats.org/officeDocument/2006/relationships/slideLayout" Target="/ppt/slideLayouts/slideLayout1.xml" Id="R5b8197add000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197add000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1bb193e1940d9" /><Relationship Type="http://schemas.openxmlformats.org/officeDocument/2006/relationships/image" Target="/ppt/media/image.jpeg" Id="Rb0dd3158a3ff44f3" /><Relationship Type="http://schemas.openxmlformats.org/officeDocument/2006/relationships/notesSlide" Target="/ppt/notesSlides/notesSlide1.xml" Id="Re8e871baab75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8bad6dfb4939" /><Relationship Type="http://schemas.openxmlformats.org/officeDocument/2006/relationships/image" Target="/ppt/media/image.jpeg" Id="R99b6408f4c1347b2" /><Relationship Type="http://schemas.openxmlformats.org/officeDocument/2006/relationships/notesSlide" Target="/ppt/notesSlides/notesSlide2.xml" Id="R50abbfb2f4724e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deeec212a43e9" /><Relationship Type="http://schemas.openxmlformats.org/officeDocument/2006/relationships/image" Target="/ppt/media/image.jpeg" Id="R27adb74fe6064463" /><Relationship Type="http://schemas.openxmlformats.org/officeDocument/2006/relationships/notesSlide" Target="/ppt/notesSlides/notesSlide3.xml" Id="R77f6a657db514a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cdd43d60a496f" /><Relationship Type="http://schemas.openxmlformats.org/officeDocument/2006/relationships/image" Target="/ppt/media/image.jpeg" Id="R7f808bb839444002" /><Relationship Type="http://schemas.openxmlformats.org/officeDocument/2006/relationships/notesSlide" Target="/ppt/notesSlides/notesSlide4.xml" Id="Rf99b03725e594c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15faf89f4fbc" /><Relationship Type="http://schemas.openxmlformats.org/officeDocument/2006/relationships/image" Target="/ppt/media/image.jpeg" Id="Ra6e14dd00ec34866" /><Relationship Type="http://schemas.openxmlformats.org/officeDocument/2006/relationships/notesSlide" Target="/ppt/notesSlides/notesSlide5.xml" Id="R9ef14f81cf59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67a9528a9470c" /><Relationship Type="http://schemas.openxmlformats.org/officeDocument/2006/relationships/image" Target="/ppt/media/image.jpeg" Id="R235c4c36c0d14531" /><Relationship Type="http://schemas.openxmlformats.org/officeDocument/2006/relationships/notesSlide" Target="/ppt/notesSlides/notesSlide6.xml" Id="Rb6caac1d6725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6acd36be84771" /><Relationship Type="http://schemas.openxmlformats.org/officeDocument/2006/relationships/image" Target="/ppt/media/image.jpeg" Id="R1ab3c470d93040be" /><Relationship Type="http://schemas.openxmlformats.org/officeDocument/2006/relationships/notesSlide" Target="/ppt/notesSlides/notesSlide7.xml" Id="Rcb34b98fa1d040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d8b6121e24121" /><Relationship Type="http://schemas.openxmlformats.org/officeDocument/2006/relationships/image" Target="/ppt/media/image.jpeg" Id="R73c5d85f3d1f4c98" /><Relationship Type="http://schemas.openxmlformats.org/officeDocument/2006/relationships/notesSlide" Target="/ppt/notesSlides/notesSlide8.xml" Id="R6664a2b773b644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deeacfe894b85" /><Relationship Type="http://schemas.openxmlformats.org/officeDocument/2006/relationships/image" Target="/ppt/media/image.jpeg" Id="R4d7ad5f4d96e4fd8" /><Relationship Type="http://schemas.openxmlformats.org/officeDocument/2006/relationships/notesSlide" Target="/ppt/notesSlides/notesSlide9.xml" Id="R8ad3bd6199d84f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5b06edad54e15" /><Relationship Type="http://schemas.openxmlformats.org/officeDocument/2006/relationships/image" Target="/ppt/media/image.jpeg" Id="R6cbdc8664a5b4b8c" /><Relationship Type="http://schemas.openxmlformats.org/officeDocument/2006/relationships/notesSlide" Target="/ppt/notesSlides/notesSlide10.xml" Id="Ra31f5979591340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f626ab1854d56" /><Relationship Type="http://schemas.openxmlformats.org/officeDocument/2006/relationships/image" Target="/ppt/media/image.jpeg" Id="R39e04e1dac3f4288" /><Relationship Type="http://schemas.openxmlformats.org/officeDocument/2006/relationships/notesSlide" Target="/ppt/notesSlides/notesSlide11.xml" Id="R21efc17d07f34c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9e69760774df6" /><Relationship Type="http://schemas.openxmlformats.org/officeDocument/2006/relationships/image" Target="/ppt/media/image.jpeg" Id="Rdf02581df1e542bd" /><Relationship Type="http://schemas.openxmlformats.org/officeDocument/2006/relationships/notesSlide" Target="/ppt/notesSlides/notesSlide12.xml" Id="Rfed0fb1e070d43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7e60f24464ad0" /><Relationship Type="http://schemas.openxmlformats.org/officeDocument/2006/relationships/image" Target="/ppt/media/image.jpeg" Id="R93a61b873fb24519" /><Relationship Type="http://schemas.openxmlformats.org/officeDocument/2006/relationships/notesSlide" Target="/ppt/notesSlides/notesSlide13.xml" Id="R621437695a6447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0806c1214911" /><Relationship Type="http://schemas.openxmlformats.org/officeDocument/2006/relationships/image" Target="/ppt/media/image.jpeg" Id="R6f9c146f5da14711" /><Relationship Type="http://schemas.openxmlformats.org/officeDocument/2006/relationships/notesSlide" Target="/ppt/notesSlides/notesSlide14.xml" Id="R6865617ef3184e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f95a478c84de2" /><Relationship Type="http://schemas.openxmlformats.org/officeDocument/2006/relationships/image" Target="/ppt/media/image.jpeg" Id="R5ea30dc02b614ec0" /><Relationship Type="http://schemas.openxmlformats.org/officeDocument/2006/relationships/notesSlide" Target="/ppt/notesSlides/notesSlide15.xml" Id="R1b9a5849638a49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ef0dd847c47d2" /><Relationship Type="http://schemas.openxmlformats.org/officeDocument/2006/relationships/image" Target="/ppt/media/image.jpeg" Id="R3d073ff61d8c4bb5" /><Relationship Type="http://schemas.openxmlformats.org/officeDocument/2006/relationships/notesSlide" Target="/ppt/notesSlides/notesSlide16.xml" Id="Rfe85c730aa714a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376afdc3b43f8" /><Relationship Type="http://schemas.openxmlformats.org/officeDocument/2006/relationships/image" Target="/ppt/media/image.jpeg" Id="R0b212832c90a41cb" /><Relationship Type="http://schemas.openxmlformats.org/officeDocument/2006/relationships/notesSlide" Target="/ppt/notesSlides/notesSlide17.xml" Id="R5be4c38a05464a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3043ed6d14f30" /><Relationship Type="http://schemas.openxmlformats.org/officeDocument/2006/relationships/image" Target="/ppt/media/image.jpeg" Id="R69109ad133ac40b5" /><Relationship Type="http://schemas.openxmlformats.org/officeDocument/2006/relationships/notesSlide" Target="/ppt/notesSlides/notesSlide18.xml" Id="Re36da29155714b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29d159de7419b" /><Relationship Type="http://schemas.openxmlformats.org/officeDocument/2006/relationships/image" Target="/ppt/media/image.jpeg" Id="R9d056e5b6d2a465f" /><Relationship Type="http://schemas.openxmlformats.org/officeDocument/2006/relationships/notesSlide" Target="/ppt/notesSlides/notesSlide19.xml" Id="R09c18a354c7e40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c9e879d54c10" /><Relationship Type="http://schemas.openxmlformats.org/officeDocument/2006/relationships/image" Target="/ppt/media/image.jpeg" Id="R833bc79d545645c6" /><Relationship Type="http://schemas.openxmlformats.org/officeDocument/2006/relationships/notesSlide" Target="/ppt/notesSlides/notesSlide20.xml" Id="R6d016af9976849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4a7dfdaf14809" /><Relationship Type="http://schemas.openxmlformats.org/officeDocument/2006/relationships/image" Target="/ppt/media/image.jpeg" Id="Rf670adb1cdef45c6" /><Relationship Type="http://schemas.openxmlformats.org/officeDocument/2006/relationships/notesSlide" Target="/ppt/notesSlides/notesSlide21.xml" Id="R5d615f4ef6ca4c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7c1a1b7b64aa0" /><Relationship Type="http://schemas.openxmlformats.org/officeDocument/2006/relationships/image" Target="/ppt/media/image.jpeg" Id="Rdbb112b7e50d4fdf" /><Relationship Type="http://schemas.openxmlformats.org/officeDocument/2006/relationships/notesSlide" Target="/ppt/notesSlides/notesSlide22.xml" Id="Re0d8fdcfc7a444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ffd08e420490e" /><Relationship Type="http://schemas.openxmlformats.org/officeDocument/2006/relationships/image" Target="/ppt/media/image.jpeg" Id="Rd47c2b96bbd74b85" /><Relationship Type="http://schemas.openxmlformats.org/officeDocument/2006/relationships/notesSlide" Target="/ppt/notesSlides/notesSlide23.xml" Id="Re298a69d46a940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88fc9861848eb" /><Relationship Type="http://schemas.openxmlformats.org/officeDocument/2006/relationships/image" Target="/ppt/media/image.jpeg" Id="R55d3c5bb991a476b" /><Relationship Type="http://schemas.openxmlformats.org/officeDocument/2006/relationships/notesSlide" Target="/ppt/notesSlides/notesSlide24.xml" Id="Rb9ac5152bd654d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bb91df51a4279" /><Relationship Type="http://schemas.openxmlformats.org/officeDocument/2006/relationships/image" Target="/ppt/media/image.jpeg" Id="R0408a0f1687a4722" /><Relationship Type="http://schemas.openxmlformats.org/officeDocument/2006/relationships/notesSlide" Target="/ppt/notesSlides/notesSlide25.xml" Id="Rfcd313e0462747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99679c93944b0" /><Relationship Type="http://schemas.openxmlformats.org/officeDocument/2006/relationships/image" Target="/ppt/media/image.jpeg" Id="Rc991a21eb18c4774" /><Relationship Type="http://schemas.openxmlformats.org/officeDocument/2006/relationships/notesSlide" Target="/ppt/notesSlides/notesSlide26.xml" Id="R3db1744339de4b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719b64a3c489f" /><Relationship Type="http://schemas.openxmlformats.org/officeDocument/2006/relationships/image" Target="/ppt/media/image.jpeg" Id="R408457cb7dfc47a3" /><Relationship Type="http://schemas.openxmlformats.org/officeDocument/2006/relationships/notesSlide" Target="/ppt/notesSlides/notesSlide27.xml" Id="R214aa97565fc4d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ba99bd8ab47e5" /><Relationship Type="http://schemas.openxmlformats.org/officeDocument/2006/relationships/image" Target="/ppt/media/image.jpeg" Id="R13c1d082f64c432b" /><Relationship Type="http://schemas.openxmlformats.org/officeDocument/2006/relationships/notesSlide" Target="/ppt/notesSlides/notesSlide28.xml" Id="R6e32801b33c945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003e7cf434228" /><Relationship Type="http://schemas.openxmlformats.org/officeDocument/2006/relationships/image" Target="/ppt/media/image.jpeg" Id="R7fd2d629d0e2414a" /><Relationship Type="http://schemas.openxmlformats.org/officeDocument/2006/relationships/notesSlide" Target="/ppt/notesSlides/notesSlide29.xml" Id="R62d34717974d48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80057201c4d47" /><Relationship Type="http://schemas.openxmlformats.org/officeDocument/2006/relationships/image" Target="/ppt/media/image.jpeg" Id="R2f0a46f6b0f0408e" /><Relationship Type="http://schemas.openxmlformats.org/officeDocument/2006/relationships/notesSlide" Target="/ppt/notesSlides/notesSlide30.xml" Id="R2f441a915cf7410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96b60a274039" /><Relationship Type="http://schemas.openxmlformats.org/officeDocument/2006/relationships/image" Target="/ppt/media/image.jpeg" Id="R89aac5f99b604ba4" /><Relationship Type="http://schemas.openxmlformats.org/officeDocument/2006/relationships/notesSlide" Target="/ppt/notesSlides/notesSlide31.xml" Id="R286e4e48ba18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D9327D2-88C2-4FE3-A892-298DAC0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5FAC226-E7D3-4AEF-83CF-3A5F7E96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C9F86FCF-AEF1-4318-BCE6-4FB0B72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d3158a3ff44f3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A4649B5-63DA-4680-971E-1DAE5313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4BA9593-2385-404E-871E-9096834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41901E4-57EE-4B6D-A1E7-59278F5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CFA207E-3830-4F8E-B09E-8825F8A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B7C91-B82F-4174-8803-B6649E24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TEMA 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90B4F-4143-4031-B50F-7097808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LENGUAJES DE PROGRAMACIÓN</a:t>
            </a:r>
          </a:p>
          <a:p xmlns:a="http://schemas.openxmlformats.org/drawingml/2006/main">
            <a:pPr algn="l">
              <a:defRPr sz="33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 INTRODUCCIÓN A JAVA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47E32-13B7-4549-889D-5A808411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Cómo pasa una idea a convertirse en instrucciones que ejecuta un ordenador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18667-78FE-40A2-B7FC-78E784F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05550"/>
            <a:ext cx="30670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   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1C8DF-2DCA-4AB5-837D-AB13BF6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AEA1 · Fundamentos de programación</a:t>
            </a:r>
          </a:p>
          <a:p xmlns:a="http://schemas.openxmlformats.org/drawingml/2006/main">
            <a:pPr algn="l">
              <a:defRPr sz="1650" b="0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y estructuras de control</a:t>
            </a:r>
          </a:p>
        </p:txBody>
      </p:sp>
    </p:spTree>
    <p:extLst>
      <p:ext uri="{BB962C8B-B14F-4D97-AF65-F5344CB8AC3E}">
        <p14:creationId xmlns:p14="http://schemas.microsoft.com/office/powerpoint/2010/main" val="173038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6408f4c1347b2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38689F-958C-48FD-B23E-02A278E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RECORRIDO QUE VAMOS A ENTENDER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E0E8CE-41F8-4653-9791-CB15B1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De la intención humana a la ejecución real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576DC-64DB-4FEA-9630-0CF20403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D93491-1289-402E-BDE7-B4205B7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fuente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6543CE-7808-4A9C-9202-3A59EDD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Traducción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CD63DB-3FC0-4123-A9AD-3EB7DEEF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Representación</a:t>
            </a:r>
          </a:p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ejecutable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A5E2DC-6A68-41E3-8CF5-BC9931C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Procesador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06FCBB-4D26-4A02-8C8E-E5C5DAE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635A24-59DD-4AD8-A48A-68FED1F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2D41B6-EA41-411B-89BE-7B69AE5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695155-B9E3-42B7-99E8-ADB2B54B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E88A46-E5F4-44DF-8BDF-DD0B82C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85725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F630A5-F76C-4370-B551-E41B882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489EB8-D551-4B9D-88D7-31D934C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975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El camino cambia según el lenguaje y su implementación, pero el procesador siempre termina ejecutando instrucciones de máquina.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db74fe6064463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95F7D-5328-4E43-97EC-BC501A6D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 MISMO CÁLCULO, TRES NIVELES DE EXPRESIÓN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F26A8-9FD0-44B1-AF2A-83C8CA4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Ejemplo real simplificado: sumar dos enteros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77C13-7201-435E-A7A7-2EE4CBA9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A152F7-96BE-42CA-A9F3-4AB4D0E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ALTO NIVEL (C)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7F962E-3076-4597-AC4F-A327EB75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 suma(int a, int b) {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   return a + b;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F5CFE-79DD-446D-A0C0-6F8B05D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8F5C17-9DE8-4F23-82FB-01FD4A3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ENSAMBLADOR x86-64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7C901D-5B88-4612-93AD-371BBDA5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lea eax, [rdi+rsi]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Mnemónicos legibles, ligados a una arquitectura.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0F888-030C-468A-BC97-9737D206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2952750"/>
          </a:xfrm>
          <a:prstGeom xmlns:a="http://schemas.openxmlformats.org/drawingml/2006/main" prst="roundRect">
            <a:avLst>
              <a:gd name="adj" fmla="val 193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72B59A-350D-4DEE-BF41-583795B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LENGUAJE MÁQUINA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1CFD01-2F34-4551-AC96-39263F7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28975"/>
            <a:ext cx="2990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8D 04 37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Bytes que una CPU x86-64 puede decodificar. En binario empezarían: 10001101…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355BF1-38DD-494B-9D43-ECD879A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85725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AB6F3-4274-4C9B-AAC1-4A682378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3FA7FF-684F-4C20-8F1E-9815E0C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28650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La correspondencia exacta depende del compilador, sus opciones y la arquitectura del procesador.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08bb839444002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C2F83-AEFD-4BD4-869E-BCF9726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ALTO Y BAJO NIVEL: ¿CERCA DE QUIÉN?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364D76-3F45-4F20-AFE3-42F94D1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“nivel” indica cuánto abstrae el lenguaje los detalles del hardware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963D0-0866-4C24-A706-2CAC779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Más cerca de la persona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B9E3F-6F38-410C-8A1A-8E098DF9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91275C-4158-4BC2-8C0E-D701A34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075BF-419B-494E-9887-CFE4AD0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9A0"/>
          </a:solidFill>
          <a:ln xmlns:a="http://schemas.openxmlformats.org/drawingml/2006/main" w="14288">
            <a:solidFill>
              <a:srgbClr val="1559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Alto nivel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3E0A3A-CCAA-4039-90FE-2702551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 · Python · C#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Variables, funciones, objetos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8FE2E7-9EFF-4FEB-90FD-AFA02528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741316-3D25-4BB5-88E4-999771E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Ensamblador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72872-DE57-4679-8956-13D353C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MOV · ADD · JMP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Registros e instrucciones CPU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2AD9DF-DF0E-4CAE-BC84-D2162071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2190750"/>
          </a:xfrm>
          <a:prstGeom xmlns:a="http://schemas.openxmlformats.org/drawingml/2006/main" prst="roundRect">
            <a:avLst>
              <a:gd name="adj" fmla="val 272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3858F7-7BD4-4E8E-BD9C-7296A9A9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Máquina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F19330-532F-4AF4-845A-7F6A58E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Bytes/binario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Específico de una arquitectura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6B8A0D-307B-44A0-8630-73F047A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91125"/>
            <a:ext cx="2428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Más cerca del hardware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D77387-FA12-4E01-B73E-90F9308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6AD17-97CB-4FCD-9DC3-9E40373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865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 lenguaje de alto nivel permite expresar más intención con menos detalles físicos.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F4E571-8000-417A-9FCD-A73F933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38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C55F7-C14F-4825-B86F-A4035292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38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Antes de ejecutarse, cualquier programa debe llegar a instrucciones compatibles con la CPU.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14dd00ec3486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35B3A-5B03-48C7-A7D1-EABE5D47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COMPILAR E INTERPRETAR SON ESTRATEGIAS DE EJECUCIÓN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C2EA8-810A-4EBE-8A46-2D4BB44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No son etiquetas absolutas: importa la implementación concreta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2A21D6-A27F-49F8-A1B5-7C21835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5BA16-09E3-4480-AF5D-8D621F5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COMPILADOR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51F43-B4C2-42AE-B0BA-1F0E53A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Traduce una unidad de código antes de ejecutarla. Puede producir código máquina, un archivo objeto o un lenguaje intermedio.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0441F6-B030-4DE9-B101-72D4AD1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50F7EC-CF83-449E-96CB-514C511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INTÉRPRETE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A9CAE7-572E-4600-96D7-FB42E25A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Lee una representación del programa y ejecuta sus operaciones durante la ejecución. El intérprete ya es un programa compilado.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A2FBD-9A25-473E-AC3B-1417A76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247650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FFA39B-8C39-4497-926B-F11E17F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MODELO MIXTO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F5A1F9-9124-46B0-A027-38D3892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24225"/>
            <a:ext cx="2990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Combina fases. Java compila a bytecode y la JVM interpreta o compila partes con JIT. CPython también genera bytecode interno.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2C7F4-0314-4304-A01D-1DA5FBF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8953500" cy="78105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3575F-A9A7-4749-9EF9-1FBF37E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638D67-F687-4A42-B223-8D92B4D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43625"/>
            <a:ext cx="861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“Ejecutable nativo” significa adaptado directamente a un sistema operativo y una arquitectura de procesador concretos.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c4c36c0d14531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F09B11-B7ED-4994-9158-5888891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 Y C++: COMPILAR NO ES EL ÚLTIMO PASO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931391-89DD-41AA-B829-0692617F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archivo objeto contiene código máquina, pero todavía no es el programa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A98933-F2DB-4476-B60D-247B304A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suma.c / .cpp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fuente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BC9202-1583-4601-8237-EF3034E8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Compilador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6FFCFA-E908-4E0F-8718-3885099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suma.obj / .o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+ símbolos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743B14-E184-4B01-A011-0C03196F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Enlazador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(linker)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02E8ED-7653-4248-A752-F253034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61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programa.exe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 ejecutable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149FE2-B24A-4B1A-8C1D-41ABB87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989235-57A8-4060-99A3-ACD50FE1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561566-5FD8-45E3-8C96-586433F7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337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AB3DA5-1DC0-45F4-A87D-DC0B5D9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C1DE13-A3F2-4CA0-955E-555694D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¿Qué añade el enlazador?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67D9E8-CD27-4238-B61A-9709374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CD4394-D58D-418F-8E6A-FF9455D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Une varios archivos objeto.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F4AAF1-6963-46E8-B5D2-FA61A17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C83017-F89D-407F-9BDD-497CF40C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340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Resuelve llamadas a funciones definidas en otros archivos o bibliotecas.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D46B91-18E9-41AA-B3A7-8115EE7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865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90BE08-5584-47E0-9124-CCC7F08F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865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Construye el formato ejecutable que entiende el sistema operativo.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3c470d93040be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A6E6E-7AC0-4744-9715-D79285D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¿QUÉ “PINTA” TIENE CADA RESULTADO?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5EBFB-52A3-4870-A5FA-708AF34C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Ejemplo de una función suma; los detalles cambian según plataforma y compilador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6379A9-D078-41C7-9606-BB7AE29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DD404-C4B3-4308-8056-BEC1219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// suma.c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suma(int a, int b) {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 return a + b;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A046A-7286-416D-B93A-DABE22F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1862B0-9EF0-4CC3-8F56-CF7F6E7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; ensamblador x86-64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lea eax, [rdi+rsi]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ret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33B5F9-8D5A-4E7C-A5C4-C99FA16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190875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486E55-F7D3-46EE-AD08-CDA53479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05100"/>
            <a:ext cx="28479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; bytes de la función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8D 04 37 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.obj/.o añade cabeceras,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símbolos y reubicaciones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A81D0-9A8E-4359-B2DE-80877C1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F48C42-A2E4-4CA9-9F3A-6DC88E6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0C3867-50E0-444F-A23F-6941327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1000125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C7EF0-EA89-4952-AF4B-374A3B2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DCFEA-CD16-4BDD-9302-A0E72AD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05500"/>
            <a:ext cx="9848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Un .obj (Windows) o .o (Linux/macOS) no es “casi lenguaje máquina” sin más: ya incluye código máquina, pero también información que el linker necesita para construir el ejecutable.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5d85f3d1f4c98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9E2084-8881-47C4-A130-62DD92B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PYTHON: EL INTÉRPRETE TAMBIÉN TRADUCE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4E9EDF-54C8-4D1C-92D2-BC7C880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En la implementación habitual, CPython compila el fuente a bytecode interno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B9B59-2E5F-460C-AFD6-96E3309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programa.py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fuente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754D7C-5A37-465A-83A4-43C7391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Compilador interno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 CPython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79F746-6CF3-48CE-8415-B8C9111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objeto / bytecode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(.pyc en algunos casos)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9E0CC8-3375-4B33-8A5D-A04CB4E2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Máquina virtual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 CPython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F5EF56-26C1-45B1-8536-3D4CDE3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C58342-8D2C-4EBE-A99C-7007F903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DA10C5-095F-4A5F-88C1-C8FDCDF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F9DFF7-13CB-4D1B-90CB-135A8B8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409575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0F08F5-F08D-4CE2-9569-95B80EA2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38725"/>
            <a:ext cx="37528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precio = 12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unidades = 3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print(precio * unidades)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DE159C-06DE-494F-8294-3C2BA9A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476250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BDA7BE-E2E1-4833-877B-27632B0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38725"/>
            <a:ext cx="4419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Bytecode simplificado: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LOAD_NAME · LOAD_NAME · BINARY_OP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CALL · RETURN_VALUE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FCE476-4BCE-4A11-8A19-F647428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762750"/>
            <a:ext cx="7715250" cy="6477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90ABB1-FA66-48F8-A57F-BAF775C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76275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2FA0B2-970D-4CD6-BFD5-76E9A43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6858000"/>
            <a:ext cx="737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3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El bytecode de CPython es un detalle de implementación y puede cambiar entre versiones.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ad5f4d96e4fd8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47EFDF-FB3C-48BB-A8B4-66DA1F6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JAVA: COMPILA UNA VEZ, EJECUTA EN UNA JVM COMPATIBLE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9E1EB9-0BC0-4EFF-8696-AD1356F3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Java utiliza una representación intermedia diseñada para su máquina virtual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7E4D91-AFBB-42B3-B471-65E9D2A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571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Programa.java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 fuente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F4F841-E415-4F6C-8346-6FAF7C58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1571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javac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Compilador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EF1C58-E10A-471C-BEA8-3C6A01B6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171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Programa.class</a:t>
            </a:r>
          </a:p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Bytecode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7228CA-8CAE-464C-B143-6C5AE4F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1571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JVM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Intérprete + JIT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FF9CF5-BDE6-4B34-A1CB-AE0C761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571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Código máquina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42294E-16AE-4C8A-84F4-F2047ED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1A49E0-1256-4FB6-8A08-4B06C2E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2FFEB6-15CF-4173-92C9-C28E8229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85A89F-1638-47DD-ABB8-7D2D4C8A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81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2F1CED-7C9A-4776-AE30-7A5DBE2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63C982-D05B-4813-8B08-595489D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33975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area = base * altura;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038E21-8DA2-45C2-9075-CC6F41F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409575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30B1A4-C0BC-4E1B-8EDA-2F954F1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33975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iload · imul · istore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7E7FC9-57D1-4C91-99D3-04139DF2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77000"/>
            <a:ext cx="80010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BCF91A-0368-4E46-8E78-15FF363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7700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3C2C97-151D-45DD-BF12-EDD5595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72250"/>
            <a:ext cx="7658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javac no genera directamente un ejecutable de Windows o Linux: genera bytecode para la JVM.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c8664a5b4b8c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18A12E-6957-4DA2-87A4-207DCA6B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C/C++, PYTHON Y JAVA LLEGAN A LA CPU POR CAMINOS DISTINTOS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A4ECB7-77BC-44FC-B5A8-AA21FDB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3333750" cy="2428875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C39221-2CB5-4D2B-9A9F-6B251C1D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 / C++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756CBC-D467-4CF3-978B-1613C828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29908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Fuente → compilador → .obj/.o → linker → ejecutable específico de SO y CPU.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F84761-4073-483E-814F-2C98923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428875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6DBD04-7983-4657-AB37-1C42CE0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(CPython)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7E885D-4780-4D7D-82D0-BE729D9D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9908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Fuente → bytecode interno → intérprete CPython. Normalmente ejecutamos el .py directamente.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283E80-C2A6-4025-9B33-C76BA179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333750" cy="2428875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78E634-39FE-4F87-9284-1265336D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378918-DDF8-4EBC-B44C-7EA451D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81350"/>
            <a:ext cx="29908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Fuente → javac → .class → JVM compatible → interpretación y/o JIT.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9ADA73-14B3-4264-A2E5-7FB3DF7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Resultado habitual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6E23A6-AF2F-4C76-84FC-4BECDE2B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76875"/>
            <a:ext cx="823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C/C++: ejecutable   ·   Python: .py / bytecode interno   ·   Java: .class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D2C5F8-23FB-47C8-AEA6-8BA32DA2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293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Entorno necesario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D7956C-AD95-4469-B028-B3D0833F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29325"/>
            <a:ext cx="823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C/C++: sistema compatible   ·   Python: intérprete + bibliotecas   ·   Java: JVM + bibliotecas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0F7A54-A4D1-467D-8151-61EFBAFE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817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Para otra CPU/SO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62D0C2-FD59-4223-ADB6-20C7E00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581775"/>
            <a:ext cx="823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C/C++: recompilar   ·   Python: intérprete compatible   ·   Java: JVM compatible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5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4e1dac3f4288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1F9742-DA61-483F-9796-C74C60E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¿QUÉ LENGUAJE ENCAJA MEJOR CON CADA TAREA?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801700-FFFB-4EE6-9253-8F3F4F0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No existe un ganador universal: elegimos según el problema y el ecosistema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240EC7-E5EC-4786-9B29-55046B2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857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Tarea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2785E5-7BD2-427E-AB3E-0FC0A41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39528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Opciones habituales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81B8C-5A4E-4ED9-8695-D6E38E6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41433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 qué encajan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5B889-C283-4324-AB35-9D9667E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432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D57455-8D89-4EBE-AB02-89B263B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Web en navegador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4E7905-191F-469A-BEE2-88EFC05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D74FB-D7C2-4C71-860E-A08588D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JavaScript / TypeScript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63EA44-1A21-480A-86C9-1EA26F2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432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20D73D-14D3-4299-B167-E4BA458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Es el lenguaje nativo del navegador.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0AD9EE-4EC7-4FB4-815A-4A46964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046F14-FE82-4612-9292-0336D80C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Backend empresarial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B9F338-C9D5-42C3-B02F-5E1688D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C28DDB-A8BF-4222-9C4F-0019D7E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766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 · C# · Kotlin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695CDB-E7F4-4275-832C-8107F3E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DB90E8-336A-4AD2-9E04-E3930CB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Ecosistemas maduros, tipado y herramientas.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127EDA-04D1-4ED0-9241-FB859C6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653CC8-E632-4592-85FC-5340737B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Datos, IA y automatización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7A939F-648E-4A30-9C0E-30137A3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815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1097FB-6CA0-484F-A238-D5D38AE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958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3E54AD-6C8D-4C35-9F44-6D35F1E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815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A6ACFB-6DD8-4741-92AB-247F85E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Bibliotecas, rapidez para experimentar y scripting.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5EAF0B-E318-4336-9A3D-39425B7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079C91-835B-4A42-A3EC-535CA8C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Sistemas, embebidos y alto rendimiento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862728-D637-4B8A-82D1-1A2FFE9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006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0CC03-0BB0-4E9C-94B5-B9801E6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149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 / C++ / Rust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EB32DE-2F18-4776-9F15-2C19508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006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9C76B4-B533-4E6A-AC6D-D0E24EC2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149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Control de memoria, hardware y rendimiento.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61E83F-CBE4-4AFF-9CF1-5E7F2EAA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F58C94-4A1C-49C3-AFB5-5479C66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Apps móviles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5C9E58-FF3D-4277-AE5B-80139A7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21982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C521BE-3BE8-472D-8F19-7105007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33412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Kotlin/Java (Android) · Swift (iOS)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4C85E-C10E-4C16-B640-3958472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1982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E68072-693E-49F0-B2C0-0D3E8FF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33412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Integración con las plataformas móviles.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6E8D9E-7252-4A5C-9647-3413E72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C5E18C-B8B8-4D07-B310-5BF0DBB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532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Bases de datos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A4FACE-8EE9-40A3-9A16-4D49A8A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038975"/>
            <a:ext cx="39528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8C4EE4-CB35-4A80-AB85-D71D001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153275"/>
            <a:ext cx="3705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D17C2F-B29D-4038-A009-470AE4E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38975"/>
            <a:ext cx="4143375" cy="819150"/>
          </a:xfrm>
          <a:prstGeom xmlns:a="http://schemas.openxmlformats.org/drawingml/2006/main" prst="roundRect">
            <a:avLst>
              <a:gd name="adj" fmla="val 697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EB9D50-5985-40CB-997E-3BFB812D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7153275"/>
            <a:ext cx="3895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Consulta y manipulación declarativa de datos.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2581df1e542bd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1E198C-ED4B-4FAF-A10C-E9E13DF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ELEGIR LENGUAJE ES TOMAR UNA DECISIÓN TÉCNICA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FCD53B-A0F0-4793-990A-C77E8585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tarea orienta, pero el contexto decide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EFBA0-F1B2-4E9F-BC3D-02DCB4A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Requisitos de rendimiento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C77AE-FCCB-4574-B7BD-0A4CAA7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Plataforma de destino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776D63-0B5F-4F20-89CE-9BC2E94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Bibliotecas disponibles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63B15D-4D64-4085-B52E-F8130D1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Equipo y conocimientos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37F79-1719-4708-BF90-D1229D0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Mantenibilidad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6D7D4D-8409-4AEB-A879-0EBD9467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143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Seguridad y soporte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2D3D94-4441-4F12-9E9E-739D92C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91250"/>
            <a:ext cx="9620250" cy="1000125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F95D6E-3F8B-4DA7-91D6-DADBB74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91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4FBCAC-EE16-44C3-9F99-6C0B163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286500"/>
            <a:ext cx="9277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En este módulo usamos Java no porque sea “el mejor”, sino porque permite aprender fundamentos, tipado, orientación a objetos y construcción de aplicaciones con una base común.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61b873fb24519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4B46AE-721C-4508-B39A-122647B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 EN UNA FRASE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8C542E-5DC4-457D-AB5A-E43BA0D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 lenguaje de alto nivel, de tipado estático y orientado a objetos, acompañado por una plataforma de ejecución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4981F3-D455-4A89-9D2E-6B79F3F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LENGUAJE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3280A9-F72A-41F8-829E-87DAD60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PLATAFORMA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2AE5E4-5069-4B25-B759-E3601D0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2857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ECOSISTEMA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215F5C-799A-49D2-83AE-71490D38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Sintaxis, tipos, clases y reglas para escribir programas.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A4C364-146A-467A-8262-186F1B55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JVM, bibliotecas estándar y herramientas del JDK.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C068BC-7B45-40DD-8062-BFEAD1D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IDEs, frameworks, servidores y comunidades.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662C79-E545-43B9-9B74-E8678D22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334125"/>
            <a:ext cx="828675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CCEEF8-DDE4-454A-966B-38F83C2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334125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138538-BE07-4435-9264-FCCE1A99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429375"/>
            <a:ext cx="7943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Java no es JavaScript: son lenguajes distintos, con sintaxis, plataformas y usos diferentes.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c146f5da14711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46A975-D7BF-42F0-8382-5A1D8F7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CARACTERÍSTICAS DE JAVA QUE NOTAREMOS DESDE EL PRINCIPIO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E5EB1-8D48-4F6C-848D-8630E28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4E9BB9-4AB1-4527-8D43-2C82C7D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Tipado estático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7A5BA-CD1E-4414-9653-4B80072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compilador comprueba que los datos y operaciones sean compatibles.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74D453-6958-4D1B-AD6C-9D14658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CED2C4-15E7-49F6-A5B6-89D9283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Orientación a objetos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4549C-3876-4B23-97CE-58CE3BD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código se organiza mediante clases y objetos, aunque también existen tipos primitivos.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A7DAA7-87F4-429D-B75E-9A60CA1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236D95-3424-408F-AEDC-1DF0667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Portabilidad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36E183-8547-487A-BDFC-E763A9F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3847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bytecode puede ejecutarse en distintas plataformas con una JVM compatible.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F1998A-77CE-487D-8BBA-B65F689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89894-4B76-4601-BBDC-321E007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Gestión automática de memoria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6F1A96-7EA3-4941-839B-28398F4F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recolector de basura recupera objetos que ya no son alcanzables.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1025FD-51E5-4288-96B9-5B2CE14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3E2DEE-C5F0-45E9-8123-E97CC41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estándar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7390B-EEAB-45E6-BC97-90B1A41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Incluye utilidades para texto, colecciones, archivos, red y mucho más.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D004E8-B1B8-40FE-9066-AE0BAFB4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231724-7093-4408-BD3D-F4002A1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Comprobaciones y excepciones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0E22F2-E424-4636-B97D-967B3C0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657850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Ayuda a detectar y tratar situaciones anómalas durante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5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30dc02b614ec0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736021-EAC2-4720-8295-4AD4DB6F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DEL FUENTE JAVA AL BYTECODE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49AC1B-EB12-4C4D-8DA7-FFD122A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Un ejemplo pequeño permite ver qué conserva la representación intermedia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90181A-8F21-46FB-A5CC-BEE463D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4476750" cy="1762125"/>
          </a:xfrm>
          <a:prstGeom xmlns:a="http://schemas.openxmlformats.org/drawingml/2006/main" prst="roundRect">
            <a:avLst>
              <a:gd name="adj" fmla="val 324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6B0ECD-C39E-4CBC-A910-D919C0A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41338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// Area.java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int area = base * altura;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System.out.println(area);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7421C9-7A23-4BBF-AFB4-66E8D12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81375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A4D57D-83CE-4F39-AEB2-E177280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048250" cy="2381250"/>
          </a:xfrm>
          <a:prstGeom xmlns:a="http://schemas.openxmlformats.org/drawingml/2006/main" prst="roundRect">
            <a:avLst>
              <a:gd name="adj" fmla="val 24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FA773-177E-4738-AE20-2968C814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Bytecode JVM simplificado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iload_1      // carga base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iload_2      // carga altura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imul         // multiplica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istore_3     // guarda area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D4817-BE87-47D6-8476-0DBA8C74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7AB381-F514-4455-9939-BD7B7FE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bytecode usa instrucciones de la JVM, no instrucciones x86, ARM u otra CPU física.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2680BF-99C2-46ED-A0FD-1C8C269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00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DF9B7F-4044-423E-A088-A153A20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4008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herramienta javap -c permite inspeccionar el bytecode generado por javac.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73ff61d8c4bb5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02CBA-960E-43FB-A58D-DB874A4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JVM HACE POSIBLE LA PORTABILIDAD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3D7B06-AFC8-406A-9460-2DC05AF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idea visual de los apuntes antiguos, reconstruida y simplificada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35BDE-781A-4457-B1FD-E9F5BF7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Programa.java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02EF2B-229C-4E69-8F83-C934D967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0037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727CE7-8B65-490A-99B0-5F0593B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238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javac → Programa.class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BYTECODE COMÚN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646030-CA1A-40F4-B179-7D926993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57700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CF977-95C5-4F88-9A7C-3F40B9D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2857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Windows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JVM para Windows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A5FE1F-4365-43E8-9745-5613D2C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57875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88F29A-8F72-478E-B584-817F559F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28575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 ejecuta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código máquina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E8B412-15BE-4AAF-9BE7-CA298D4E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60B62F-CD9F-4857-AB43-EE88DD2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05375"/>
            <a:ext cx="2857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Linux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JVM para Linux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94DD65-1162-467B-A5B7-4519C4AB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57875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9A211C-E0B4-4F16-A189-1160D36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334125"/>
            <a:ext cx="28575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 ejecuta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código máquina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E268DF-CD93-47C5-BA89-B637B55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57700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B6B6C-18C8-4C81-96CB-A5EAE0E8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2857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macOS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JVM para macOS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2E68DB-8809-48F7-AFC5-1FEF60C6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57875"/>
            <a:ext cx="285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90AB4D-E0E3-469E-B62C-155DBE79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334125"/>
            <a:ext cx="28575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 ejecuta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código máquina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9554CE-A1C9-4390-AA60-D48CA429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77125"/>
            <a:ext cx="8763000" cy="66675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EDBCCF-E283-4B76-AD0B-FB733FA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77125"/>
            <a:ext cx="762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E3C0EC-C5D1-4A38-825D-722A6E8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572375"/>
            <a:ext cx="842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Portabilidad no significa “funciona siempre”: deben ser compatibles la versión de Java, las bibliotecas y los recursos externos.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12832c90a41cb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7B2AE0-6777-4B14-9B71-37FD3E5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JIT: REUTILIZAR CÓDIGO MÁQUINA DURANTE LA EJECUCIÓN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9C381-6DD7-4185-A16D-4441A22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La JVM acelera las zonas que detecta como frecuentes o “calientes”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0F228-EBFA-45B0-AED2-55F0306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191000" cy="1476375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459AB-EC70-4D5A-BD07-1F9D7AE4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3848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for (int i = 0; i &lt; 1_000_000; i++) {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   total += calcular(i);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AB3070-6228-4BD5-8E3C-DE16A251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· Interpreta</a:t>
            </a:r>
          </a:p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bytecode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98222F-0D56-4BEF-81C5-D6CA837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3189AD-661A-4D32-8EFF-D642750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 · Detecta que</a:t>
            </a:r>
          </a:p>
          <a:p xmlns:a="http://schemas.openxmlformats.org/drawingml/2006/main">
            <a:pPr algn="ctr">
              <a:defRPr sz="127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 repite mucho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2C9D26-B2B4-4D32-93A8-922A698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718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9D363E-27CA-475F-8090-04941611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7621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Compila esa zona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código máquina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870159-E994-4B96-85AE-B4F4E92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904875"/>
          </a:xfrm>
          <a:prstGeom xmlns:a="http://schemas.openxmlformats.org/drawingml/2006/main" prst="roundRect">
            <a:avLst>
              <a:gd name="adj" fmla="val 631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6A4C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D21681-3D11-49FB-AFD4-C16CE86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6C6AA1-C92D-45B5-A7F0-514D27A5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9563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A4C9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A4C93"/>
                </a:solidFill>
                <a:latin typeface="Calibri"/>
                <a:ea typeface="Calibri"/>
                <a:cs typeface="Calibri"/>
              </a:rPr>
              <a:t>Sí: en las siguientes iteraciones o llamadas, la JVM puede ejecutar directamente la versión ya compilada en memoria, en vez de volver a interpretar esas instrucciones.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21E20F-1D60-4CB9-878D-DA5C894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22AFD4-A4C5-4F74-AC63-5B1B636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Esa versión suele existir solo mientras el programa está en ejecución; no se guarda como un .exe permanente.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CF42E3-312C-4570-8DEA-E093E70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43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2CEE35-21A9-430E-895B-5E0FD25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437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JVM puede invalidarla y volver a compilar si dejan de cumplirse las condiciones usadas para optimizarla.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64EA48-9AB5-48D9-968A-7ED2B82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96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8050FE-A3E1-4F40-90FD-79D577C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96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javac traduce fuente → bytecode; JIT traduce bytecode frecuente → código máquina.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09ad133ac40b5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25AF04-148D-4FB2-89DF-4FE906F5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SDK, JDK, ENTORNO DE EJECUCIÓN Y JVM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D74194-93E7-41EF-8DEA-A89C8EF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SDK es el término general; JDK es el kit de desarrollo específico de Java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CD28C-E08A-4477-821E-68E86CE7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4762500"/>
          </a:xfrm>
          <a:prstGeom xmlns:a="http://schemas.openxmlformats.org/drawingml/2006/main" prst="roundRect">
            <a:avLst>
              <a:gd name="adj" fmla="val 120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42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177654-A36C-4F76-8741-FE0DFAB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90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JDK · EL SDK DE JAVA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5C3702-23F0-4C89-8C23-CB907965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Herramientas: javac · java · jar · javadoc · jdb…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4CB7D3-F1F4-4933-9788-9494D25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72390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A4C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5F10CA-7453-4424-99D3-036EB8F3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4C9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6A4C93"/>
                </a:solidFill>
                <a:latin typeface="Calibri"/>
                <a:ea typeface="Calibri"/>
                <a:cs typeface="Calibri"/>
              </a:rPr>
              <a:t>ENTORNO DE EJECUCIÓN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25D751-5322-4DC9-AE99-E36FD01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4C9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6A4C93"/>
                </a:solidFill>
                <a:latin typeface="Calibri"/>
                <a:ea typeface="Calibri"/>
                <a:cs typeface="Calibri"/>
              </a:rPr>
              <a:t>Bibliotecas estándar de Java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947927-E6E7-4123-9030-4608EEC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47625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JVM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Carga y ejecuta bytecode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687F4E-D0C4-444F-ACC9-521516BE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29500"/>
            <a:ext cx="8763000" cy="6858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E06565-71A2-401E-BC52-FCBE62B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4295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35BFB9-F481-403D-9875-59F9DE0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524750"/>
            <a:ext cx="842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Para programar instalamos un JDK. “JRE” sigue siendo un concepto útil para nombrar el entorno de ejecución, aunque hoy no solemos instalar un paquete JRE separado.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56e5b6d2a465f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19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09034-B370-4B1A-B1AE-92BB00E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EDICIONES Y PLATAFORMAS JAVA ACTUALES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FE3439-397E-422B-958F-373B3F90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Comparten el lenguaje, pero ofrecen APIs y entornos para objetivos distintos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13CC4-2F5C-49DE-A1B0-D6F2DF25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LENGUAJE JAVA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BCEB4D-296B-4E43-A372-102721B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3048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3B6672-97C2-4D01-96D2-C18575B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3048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87CA55-701A-4E45-B8E8-4BC7CDC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572000" cy="1666875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411953-3FF8-432D-8C6A-AAC03505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F29349-52F5-4E91-BC51-1106AD3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4229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Edición estándar y base del módulo: lenguaje, JVM y API para aplicaciones de propósito general.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D2D3DF-A868-4B42-B9F9-EAAFD33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572000" cy="1666875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AD86CD-9AD0-4FFD-B57B-D9532CE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01935-4EB1-4C38-BBFB-8BF372D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71975"/>
            <a:ext cx="4229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Edición para dispositivos con recursos limitados y sistemas embebidos. No es el SDK de Android.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EFC72D-4962-45AD-9A31-41227C59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3048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C99C5C-A5E6-4598-8464-6B3CF37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572000" cy="1381125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E48C47-E172-46AA-9822-BBA460F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572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JAKARTA EE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198C1F-C73A-4700-B163-C8155E4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05600"/>
            <a:ext cx="4229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Plataforma empresarial y web construida sobre Java SE. Es la continuación actual de la antigua Java EE.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64D49E-9206-46E7-8676-9640453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5238750" cy="876300"/>
          </a:xfrm>
          <a:prstGeom xmlns:a="http://schemas.openxmlformats.org/drawingml/2006/main" prst="roundRect">
            <a:avLst>
              <a:gd name="adj" fmla="val 652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0A63EE-E1F4-4562-A607-6532A0A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8F7E29-64DD-4569-BA19-450DF66F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29375"/>
            <a:ext cx="489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Para empezar usamos Java SE mediante un JDK; añadiremos frameworks y APIs cuando el proyecto los necesite.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bc79d545645c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7DD204-E41D-4B80-9F69-865D7C0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¿QUÉ ES UNA DISTRIBUCIÓN DEL JDK?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AF2FE0-4C6A-4D99-82DF-D222B569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mismo estándar puede empaquetarse y mantenerse por proveedores diferentes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8FA0B-AF0B-41E3-98F4-C8245843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571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Proyecto OpenJDK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Código fuente común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BCBEF8-31C2-4196-9A08-7098237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5238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3B370A-F771-4CC7-B582-4B3E6D8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3000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Oracle JDK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66313E-EB90-40EF-96AE-FD5E1C0D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000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Eclipse Temurin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891752-53F8-40E2-956B-FFC1B4CA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52875"/>
            <a:ext cx="3000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Amazon Corretto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47155-75B6-4767-A229-1B1BEFA8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52875"/>
            <a:ext cx="3000375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Microsoft Build of OpenJDK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94FF0A-48BC-4931-B9D7-63AA14E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Una distribución es una compilación y un paquete listo para instalar, mantenido por un proveedor. Puede variar en soporte, licencia, calendario de actualizaciones e instalador; sigue siendo Java compatible.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80D7CE-3D7D-4FAD-A1CA-914B692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39000"/>
            <a:ext cx="9239250" cy="7620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594400-1F77-4664-9546-6DDDA3A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390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DD136B-3AF8-4656-801B-01DD3A9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0"/>
            <a:ext cx="889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En clase indicaremos versión y distribución. No basta con decir “tengo Java”: comprobaremos java -version y javac -version.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0adb1cdef45c6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02B4B3-5ADD-4D0D-BD2F-38A7ECF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IDE, JDK Y PROYECTO: TRES COSAS DIFERENTES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08915-4437-4884-8955-62ABB538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32385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FAE941-C4C6-45CC-A1C2-6283ED1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3238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 / EDITOR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BE8326-6584-404F-A070-FCFCC2F1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19475"/>
            <a:ext cx="28956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Donde escribimos, navegamos y depuramos. Ejemplos: IntelliJ IDEA, Eclipse, NetBeans o VS Code.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44C5E9-5F5D-41BD-8629-BE84AC68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DCAFF0-68B0-4530-B47C-D7AE3E8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JDK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36FF61-1839-4246-99E8-1E80C9C7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19475"/>
            <a:ext cx="28956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Aporta el compilador, el lanzador y las bibliotecas necesarias para desarrollar.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0B1505-716D-43C8-80A8-15CD3F60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32385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029932-328B-4B22-8F60-B3E8D35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3238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PROYECTO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35142C-DD5E-4E1A-BBCC-E52B2128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19475"/>
            <a:ext cx="28956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Código, configuración, dependencias y versión de Java seleccionada.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404287-5607-4389-AA83-5D1ED52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8953500" cy="809625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164FA0-F8E7-4380-9B2E-7B258C6F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B384A4-709E-46E6-9A36-4F8CC87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29375"/>
            <a:ext cx="8610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Instalar un IDE no garantiza que el proyecto tenga un JDK configurado. El IDE debe saber qué JDK utilizar.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112b7e50d4fdf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4EDBF7-11D3-45FE-8108-23D4FC3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IA PARA PROGRAMAR: HERRAMIENTAS CON DISTINTO ALCANCE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FA60A4-AF54-4E4C-95F1-05526B8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Los nombres cambian; la diferencia importante es qué contexto reciben y qué acciones pueden realizar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E96D90-4D43-4726-AB74-10C3986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191125" cy="2238375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9BF85B-9DFD-4368-882B-5A53F8A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1911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 · Claude · Gemini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D7C4AB-4B78-4D86-9086-2FE9B5C9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3225"/>
            <a:ext cx="4848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Explicar un error o comparar soluciones pegando un fragmento.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940B7-0683-4885-9989-60025475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5191125" cy="2238375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65597-A223-48F8-B7AB-B8830D98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51911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ASISTENTE EN EL IDE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Copilot · JetBrains AI Assistant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2DC937-7F80-4619-A66C-F4BEEDA5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43225"/>
            <a:ext cx="4848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Completar código, explicar una selección o proponer pruebas.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D94050-E005-48E8-BE94-A0A098ED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191125" cy="2238375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3B39CB-1487-45CE-B3E4-A4FB063D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1911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EDITOR CON AGENTE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Cursor · Windsurf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1C447D-D7C3-43E9-BBA9-5AD968A0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57850"/>
            <a:ext cx="4848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Leer varios archivos, modificar el proyecto y ejecutar tareas.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A8F5CC-9A82-4E37-BEBD-2D4B2C0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5191125" cy="2238375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772E90-F203-403D-8C2B-CDC67C7B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51911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AGENTE EN TERMINAL/NUBE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Codex · Claude Code · Gemini CLI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4B01DC-D562-46CD-96D8-A89153F5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657850"/>
            <a:ext cx="48482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Trabajar sobre un repositorio, lanzar comandos y preparar cambios.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28ABA7-06ED-4476-9D85-0B1DBB7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24750"/>
            <a:ext cx="9144000" cy="6477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F39DB9-EB17-4FB4-A70E-AF5CCD6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2475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B31FA2-A0C9-423B-8BD8-27BC3570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620000"/>
            <a:ext cx="880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Modelo ≠ herramienta: GPT, Claude o Gemini son familias de modelos; una herramienta decide qué archivos, comandos y permisos les ofrece.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c2b96bbd74b85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407575-0260-4658-A577-E5A4BE63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USAR IA PARA APRENDER SIN DELEGAR EL APRENDIZAJE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96CF87-2A29-48BC-8EE7-C46878B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95262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· Intenta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DA5341-2103-45AE-8865-FCD04E5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EA8795-1A6E-4351-9B65-BBCD310D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5262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 · Aporta contexto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AB0ECC-9E9B-48C9-88A0-FF54B2E5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05150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F76D85-6D72-4FB8-948D-EDDB629A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195262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3 · Pide una pista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07B319-CE2A-4C2A-A620-34E2AE36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0AC2A2-35CA-41A9-AE8B-CA93FA3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95262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 · Comprueba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3B4166-56BC-4390-A49A-D2CDA7E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05150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E3DB99-6574-4130-8238-4D907D7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1952625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Explica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08698F-D07D-404B-89C5-FCD806D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B54881-6634-4738-9ED8-E453615C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Incluye el enunciado, tu intento, el error exacto y la versión de Java.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CE72C0-85C1-474E-870E-382AFED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11165A-4BB7-42A0-B149-CD26C84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68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Pide que señale el problema antes de solicitar el programa completo.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40BE68-F098-4DD8-B131-896D4FC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292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122C36-1328-41C6-95EB-88EE3FD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292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Compila, ejecuta y prueba casos normales y límite.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1ED3B6-25CC-4AAD-8258-D2E7868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817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CF5C50-B570-4D06-B6E6-0CD6DB4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1817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 no puedes justificar el cambio con tus palabras, todavía no lo has aprendido.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11D2DD-B23A-4B53-A804-C44F7C9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734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2C9128-1B9E-4201-9513-50BADE25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7341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Nunca compartas contraseñas, datos personales ni código que no estés autorizado a enviar.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3c5bb991a476b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F39B0B-6CAA-4276-A233-9AA7D4C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MI PRIMER PROGRAMA JAVA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957945-1B63-4A05-BFA9-F7DF219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El nombre del archivo debe coincidir con el de la clase pública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4129E-CC9C-484A-8095-343B99E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6858000" cy="3429000"/>
          </a:xfrm>
          <a:prstGeom xmlns:a="http://schemas.openxmlformats.org/drawingml/2006/main" prst="roundRect">
            <a:avLst>
              <a:gd name="adj" fmla="val 1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C421B8-274E-48B7-B379-972E095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57475"/>
            <a:ext cx="65151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// HelloWorldApp.java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public class HelloWorldApp {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   public static void main(String[] args) {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       System.out.println("Hello World");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D1E555-AFB1-4F0B-965B-31AE0B6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048000" cy="3429000"/>
          </a:xfrm>
          <a:prstGeom xmlns:a="http://schemas.openxmlformats.org/drawingml/2006/main" prst="roundRect">
            <a:avLst>
              <a:gd name="adj" fmla="val 187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86EFF-4F4F-4B8B-9A9A-24FA7B4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3048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4B523-E9A7-452A-83EA-04609F2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33725"/>
            <a:ext cx="27051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Clase: HelloWorldApp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Punto de entrada: main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Primera instrucción: println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Bloques delimitados por { }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• Cada instrucción termina en 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279AAF-0842-40D8-92D5-CA9AA3F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67500"/>
            <a:ext cx="80010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8D50DC-91AD-4CCA-BA82-7959A7A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67500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9D78F7-BE41-4E5B-BFED-38D527B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762750"/>
            <a:ext cx="7658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Primero lo ejecutaremos desde la terminal para ver las herramientas; después utilizaremos el IDE.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8a0f1687a4722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F23AA-E1C0-4B37-810A-1E498CD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DOCUMENTAR ES EXPLICAR EL CONTRATO, NO TRADUCIR EL CÓDIGO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B41B86-96C5-4A9A-8B21-00A53773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6191250" cy="3429000"/>
          </a:xfrm>
          <a:prstGeom xmlns:a="http://schemas.openxmlformats.org/drawingml/2006/main" prst="roundRect">
            <a:avLst>
              <a:gd name="adj" fmla="val 1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5EF6AD-A054-4E7B-9B15-8B6476E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58483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/**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* Calcula el área de un rectángulo.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* @param base anchura en unidades positivas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* @param altura altura en unidades positivas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* @return base multiplicada por altura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 */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static int area(int base, int altura) { ... 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EF6A0-7913-47F0-A155-EF75EBF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17145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2F47C0-7570-4D04-8663-8CF5D84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4000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COMENTARIOS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837564-F72D-45D0-8919-02EF624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3657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Aclaran decisiones, restricciones o motivos que el código no expresa por sí mismo. Evita comentarios obvios o desactualizados.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C5E9F9-7DDB-482F-8DE3-4351C5C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000500" cy="17145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C37AA3-4E30-4B1C-982B-B7DE6D79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000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JAVADOC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E17F63-C4B0-4E1A-BE2A-1AD8423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81600"/>
            <a:ext cx="3657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Usa comentarios /** ... */ para generar documentación de clases, métodos y parámetros mediante la herramienta javadoc del JDK.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41703A-9310-47FC-B944-875C9568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00875"/>
            <a:ext cx="800100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BEDF40-6761-4F18-9279-19C79602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008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D3216D-3778-4ABC-BBCC-51CE774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096125"/>
            <a:ext cx="765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Buenos nombres + código claro + documentación del contrato. Las tres cosas se complementan.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1a21eb18c477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508F4-F921-4BE3-8D44-C5460A44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COMPILAR Y EJECUTAR DESDE LA TERMINAL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3381F-DB03-4DBD-8848-E1ABB3E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Dos comandos, dos responsabilidades diferentes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99C315-BBE1-4E86-BC7D-83A8D53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7143750" cy="2286000"/>
          </a:xfrm>
          <a:prstGeom xmlns:a="http://schemas.openxmlformats.org/drawingml/2006/main" prst="roundRect">
            <a:avLst>
              <a:gd name="adj" fmla="val 25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05111-DC18-42CF-8F52-46B381C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68008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C:\JavaProgramas&gt; javac HelloWorldApp.java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C:\JavaProgramas&gt; java HelloWorldApp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7202A"/>
                </a:solidFill>
                <a:latin typeface="DejaVu Sans Mono"/>
                <a:ea typeface="DejaVu Sans Mono"/>
                <a:cs typeface="DejaVu Sans Mono"/>
              </a:rPr>
              <a:t>Hello World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CFBE39-D0A6-439C-A57C-5039B3E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1809750"/>
          </a:xfrm>
          <a:prstGeom xmlns:a="http://schemas.openxmlformats.org/drawingml/2006/main" prst="roundRect">
            <a:avLst>
              <a:gd name="adj" fmla="val 315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968832-B835-4888-B088-F946C97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CEA558-1CAB-4F0D-B285-8CFB248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Lee el fuente y genera HelloWorldApp.class. Si encuentra un error de sintaxis o de tipos, no completa la compilación.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F0A78-DF63-4AEE-AAA2-747832B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857500" cy="1809750"/>
          </a:xfrm>
          <a:prstGeom xmlns:a="http://schemas.openxmlformats.org/drawingml/2006/main" prst="roundRect">
            <a:avLst>
              <a:gd name="adj" fmla="val 315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1590F4-AAFD-4955-931B-1E10192E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857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8DB837-7635-4207-94AF-F692764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Inicia el entorno de ejecución, carga la clase y llama a main. Escribimos el nombre de la clase sin .class.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2A655-F41F-4172-AA33-0F7813DF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8763000" cy="6858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70689B-7A42-4A0E-884B-7EDA538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782666-3282-4426-B5AB-EED411C2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86625"/>
            <a:ext cx="842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Si modificas el .java, vuelve a compilar antes de ejecutar para que el .class refleje el cambio.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457cb7dfc47a3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0CF9D-3C07-47DD-B6F0-AE13723F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CICLO REAL DE TRABAJO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C7AC48-7EC1-4EFC-8361-65E6175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Programar implica observar, corregir y volver a probar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5A0A99-9798-4D50-B5BF-DF63357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Editar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.java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6883D1-EFFD-46C0-8C93-0B9121BE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AA57E6-3C50-4CB9-9D07-E0050F8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Guardar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25B65A-2003-4834-AC3B-75BBD37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232B92-6808-460D-AB27-2A3B05C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Compilar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9D1AE2-0404-4CFF-ACE8-E52C243B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5757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A94B20-FF46-49A1-8F61-620B91D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Corregir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errores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141BAA-00A3-4614-BBF6-D0EDB05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AF4EA6-E6CC-47E9-B1E0-CCB3ED0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Ejecutar</a:t>
            </a:r>
          </a:p>
          <a:p xmlns:a="http://schemas.openxmlformats.org/drawingml/2006/main">
            <a:pPr algn="ctr">
              <a:defRPr sz="1425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939B8D-59C3-47AC-A9B3-47C00118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5757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506183-3594-4C67-A18A-968D81F5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52400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4285"/>
          </a:solidFill>
          <a:ln xmlns:a="http://schemas.openxmlformats.org/drawingml/2006/main" w="14288">
            <a:solidFill>
              <a:srgbClr val="0F4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Probar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9A6618-1DE0-4734-B63B-1F243CFA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261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Si falla la compilación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394CF8-6CD8-47B7-8F7D-27780B54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219075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3261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261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↶ volver al fuente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278BF3-7D6C-4DF3-9B41-5DD1AE9B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388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6B0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76B00"/>
                </a:solidFill>
                <a:latin typeface="Calibri"/>
                <a:ea typeface="Calibri"/>
                <a:cs typeface="Calibri"/>
              </a:rPr>
              <a:t>Si compila pero el resultado es incorrecto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B8E06C-8FDF-4810-85EE-EE272E0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10375"/>
            <a:ext cx="7810500" cy="714375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755584-208D-4FEE-B04F-DAE71A6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10375"/>
            <a:ext cx="76200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3DCE21-66BD-4717-990D-3C6149CD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905625"/>
            <a:ext cx="746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Compilar sin errores no demuestra que el algoritmo sea correcto: por eso trazamos y probamos.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1d082f64c432b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8E4573-E632-4E56-95CC-DE4B0DB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ERRORES QUE YA PODEMOS DISTINGUIR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D21F6-ED25-4C23-84B5-F4E2153D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3849FE-3891-4828-8BA8-786CF85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14288">
            <a:solidFill>
              <a:srgbClr val="B3261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DE COMPILACIÓN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4267D1-15BA-4F9E-A19D-AF08B5E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fuente no cumple las reglas o contiene una operación incompatible. Ejemplo: falta ; o se asigna texto a un int.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C50FF9-AD2B-4453-8A70-A8656BD0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4D4977-0684-47C6-A8E7-77B7579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6B00"/>
          </a:solidFill>
          <a:ln xmlns:a="http://schemas.openxmlformats.org/drawingml/2006/main" w="14288">
            <a:solidFill>
              <a:srgbClr val="D76B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DE EJECUCIÓN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00257F-5FB6-4065-835C-265F97B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programa empieza, pero ocurre un problema mientras funciona. Ejemplo: dividir por cero o acceder fuera de un array.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AC8D4B-9D95-42E0-A35B-606868F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39CC81-CE0F-4C5B-A203-6E0317D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LÓGICO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0C8BEA-0FD7-4B64-9196-9F9E929E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24225"/>
            <a:ext cx="2990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programa compila y termina, pero calcula una respuesta incorrecta. Ejemplo: usar suma cuando se necesitaba multiplicar.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D60122-09D8-4A2A-9CE0-1A3E405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29375"/>
            <a:ext cx="8572500" cy="78105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D68E1A-6F4F-443B-B730-9BB0450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29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FC732E-6B89-4D78-B190-31050A5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524625"/>
            <a:ext cx="822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El compilador detecta algunos errores; las pruebas y la revisión del algoritmo detectan otros.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2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2d629d0e2414a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29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A8FE1-5D05-46AD-84EA-A2584B13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ACTIVIDAD: EXPLICA EL RECORRIDO COMPLETO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220860-FEB6-4BF8-80F2-F0E2E63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Responde con tus propias palabras y utiliza los esquemas del tema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2961FE-E4C3-437F-A7D3-F4ED15E1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1. Convierte la función suma desde alto nivel hasta bytes de máquina y explica por qué el resultado depende de la CPU.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F8443-D3A6-4801-B586-74A8955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2. Explica qué contiene un .obj/.o y por qué todavía necesita el linker.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4C294D-435C-4B00-A31E-0145EF6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3. Compara el recorrido de un programa C/C++, uno Python con CPython y uno Java.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A24641-BA49-4AD6-8FD4-4EB23D7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4. Dibuja la relación entre JDK, entorno de ejecución, JVM y bibliotecas.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4AD51C-1F52-494C-B1AF-B77355E7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5. Elige lenguaje para una web, un script de datos y un sistema embebido. Justifica cada decisión.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577E8B-374A-4D93-8141-A4D8F83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10250"/>
            <a:ext cx="519112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B6C2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6. Propón una petición a una IA que te ayude a aprender sin pedirle la solución completa.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8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a46f6b0f0408e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EB29F0-D48B-475C-98D0-55A69DF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DOS VÍDEOS PARA CONECTAR EL TEMA CON LA PROFESIÓN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4BB99E-A993-4012-9053-5FAB9DBC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07A"/>
                </a:solidFill>
                <a:latin typeface="Calibri"/>
                <a:ea typeface="Calibri"/>
                <a:cs typeface="Calibri"/>
              </a:rPr>
              <a:t>Úsalos como actividad de contraste, no como sustituto de los apuntes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9BCFAC-2251-42F6-A766-932F661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14350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E0A12D-6DCC-42EB-ACE2-5C6929B8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143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IA Y PROGRAMACIÓN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55D0E4-F07B-43FE-91D1-83F7A64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800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Brais Moure / mouredev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“El fin de la burbuja: ¿Por qué la IA no reemplaza programadores?”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https://youtu.be/CauENcmaL80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846211-C5F1-476E-80BE-1D67EF5A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143500" cy="2857500"/>
          </a:xfrm>
          <a:prstGeom xmlns:a="http://schemas.openxmlformats.org/drawingml/2006/main" prst="roundRect">
            <a:avLst>
              <a:gd name="adj" fmla="val 2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6C2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FADBA5-9A2D-4337-AB12-572D418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143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A4C93"/>
          </a:solidFill>
          <a:ln xmlns:a="http://schemas.openxmlformats.org/drawingml/2006/main" w="14288">
            <a:solidFill>
              <a:srgbClr val="6A4C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EN EL MUNDO PROFESIONAL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642DE1-A22E-478A-A529-4C5033EF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4800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Brais Moure / mouredev</a:t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“Si quieres trabajo en 2026, no ignores Java”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https://youtu.be/mksMlTrV8QA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70EFAD-000E-45B7-8F6D-C818D62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9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E38DC3-1D9F-4916-BBDC-3B2B0FD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Antes: formula una hipótesis sobre IA o sobre la vigencia de Java.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3670A3-8B71-4F0C-9F81-FE0424B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43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A3F4B2-C96B-457C-9052-D35C2FA3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7437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Durante: anota dos argumentos y distingue datos, opiniones y predicciones.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80D21C-98AB-4DCD-9625-E5E7DC08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96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0BAF9D-1D01-4A29-B441-275279CA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96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Después: relaciona el vídeo con dos esquemas del tema y contrasta una afirmación con otra fuente.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35563287-72CE-4597-909F-648D9D8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D7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76D75"/>
                </a:solidFill>
                <a:latin typeface="Tahoma"/>
                <a:ea typeface="Tahoma"/>
                <a:cs typeface="Tahoma"/>
              </a:rPr>
              <a:t>MP 0485 · PROGRAMACIÓN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F892AE-4167-4BBB-B18F-5509F65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42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4285"/>
                </a:solidFill>
                <a:latin typeface="Tahoma"/>
                <a:ea typeface="Tahoma"/>
                <a:cs typeface="Tahoma"/>
              </a:rPr>
              <a:t>TEMA 02  ·  LENGUAJES DE PROGRAMACIÓN Y JAVA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6EE2C89-B013-468B-BBEC-E5651E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ac5f99b604ba4"/>
          <a:stretch xmlns:a="http://schemas.openxmlformats.org/drawingml/2006/main"/>
        </p:blipFill>
        <p:spPr>
          <a:xfrm xmlns:a="http://schemas.openxmlformats.org/drawingml/2006/main">
            <a:off x="10506335" y="266700"/>
            <a:ext cx="1066280" cy="8953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F5C4ADF5-8BA0-4245-8968-F3D7E1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28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7ECAFF2-3316-471F-894C-881F4D7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D9CFEB8-2B17-4690-A11D-77083265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5822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1.º DAM / DAW · 2026–2027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5BDD55D-2005-4407-AD6E-A2DE8C0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63917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AEA1  ·  RA 01  ·  31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6186E-70DB-4598-8EB9-40555B1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RESUMEN: DEL CÓDIGO FUENTE A LA EJECUCIÓN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C9C947-A1CE-47CB-B4F0-94BD9F7C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92C7CD-4783-4860-B9E7-4074574A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 procesador ejecuta lenguaje máquina; los lenguajes de alto nivel permiten expresar la solución con abstracciones.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2E5383-46F0-44DE-864C-E859CE47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8207BD-0DBC-4BED-B10E-82423B8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C/C++ genera archivos objeto con código máquina y metadatos; el linker construye el ejecutable final.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26FBC7-E301-498B-869A-AD1A643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AEC67-FC2B-42A6-9D52-818D7EC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CPython genera y ejecuta bytecode interno; Java genera bytecode portable para una JVM compatible.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C8D6C4-ECA6-4190-88DD-1A12A321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AA4A36-621B-4148-9CC0-E38AA010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No hay un lenguaje mejor para todo: tarea, plataforma, ecosistema, equipo y mantenimiento orientan la elección.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9AB9D9-166B-47AD-AA9F-FBA4FA7C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2E22AC-D082-401B-BE1B-43F0453A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Para desarrollar Java necesitamos un JDK: incluye herramientas y los componentes necesarios para ejecutar.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2B563C-F33B-4B10-B8F6-14B544EF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468C89-554F-43BB-9D45-5025CCF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 IA puede explicar y proponer; nosotros debemos comprender, comprobar y responsabilizarnos del resultado.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A3977A-D9F1-4694-BFED-17EA77F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34250"/>
            <a:ext cx="8953500" cy="74295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F428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6CE33F-96CF-41F5-8A6D-CA75328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34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00"/>
          </a:solidFill>
          <a:ln xmlns:a="http://schemas.openxmlformats.org/drawingml/2006/main" w="14288">
            <a:solidFill>
              <a:srgbClr val="FFEA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7E0072-679F-4887-88E3-EA4C63A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429500"/>
            <a:ext cx="861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28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4285"/>
                </a:solidFill>
                <a:latin typeface="Calibri"/>
                <a:ea typeface="Calibri"/>
                <a:cs typeface="Calibri"/>
              </a:rPr>
              <a:t>Siguiente paso: estructura de un programa Java, método main, instrucciones y salida por consola.</a:t>
            </a:r>
          </a:p>
        </p:txBody>
      </p:sp>
    </p:spTree>
    <p:extLst>
      <p:ext uri="{BB962C8B-B14F-4D97-AF65-F5344CB8AC3E}">
        <p14:creationId xmlns:p14="http://schemas.microsoft.com/office/powerpoint/2010/main" val="108294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2026-09-04T16:11:26.5270000Z</dcterms:created>
  <dcterms:modified xsi:type="dcterms:W3CDTF">2026-09-04T16:11:26.5270000Z</dcterms:modified>
</coreProperties>
</file>