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875c7d5d4453c" /><Relationship Type="http://schemas.openxmlformats.org/officeDocument/2006/relationships/extended-properties" Target="/docProps/app.xml" Id="R9d5b5461de5a4ce7" /><Relationship Type="http://schemas.openxmlformats.org/officeDocument/2006/relationships/officeDocument" Target="/ppt/presentation.xml" Id="R7fdaf81672e5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00bc6bfb4c49f3"/>
  </p:sldMasterIdLst>
  <p:notesMasterIdLst>
    <p:notesMasterId xmlns:r="http://schemas.openxmlformats.org/officeDocument/2006/relationships" r:id="Ra1465c29ed1d44a4"/>
  </p:notesMasterIdLst>
  <p:sldIdLst>
    <p:sldId xmlns:r="http://schemas.openxmlformats.org/officeDocument/2006/relationships" id="256" r:id="R6807c658c69d47f8"/>
    <p:sldId xmlns:r="http://schemas.openxmlformats.org/officeDocument/2006/relationships" id="257" r:id="Rbc599fbca8244135"/>
    <p:sldId xmlns:r="http://schemas.openxmlformats.org/officeDocument/2006/relationships" id="258" r:id="R9bede16ce09445a1"/>
    <p:sldId xmlns:r="http://schemas.openxmlformats.org/officeDocument/2006/relationships" id="259" r:id="R317c1e54ce9a482b"/>
    <p:sldId xmlns:r="http://schemas.openxmlformats.org/officeDocument/2006/relationships" id="260" r:id="Ra96a6a7814234c48"/>
    <p:sldId xmlns:r="http://schemas.openxmlformats.org/officeDocument/2006/relationships" id="261" r:id="Rdc8f0e1f42724910"/>
    <p:sldId xmlns:r="http://schemas.openxmlformats.org/officeDocument/2006/relationships" id="262" r:id="R13fbdd26d3aa4c71"/>
    <p:sldId xmlns:r="http://schemas.openxmlformats.org/officeDocument/2006/relationships" id="263" r:id="Re91031259456458d"/>
    <p:sldId xmlns:r="http://schemas.openxmlformats.org/officeDocument/2006/relationships" id="264" r:id="R27c774064121460a"/>
    <p:sldId xmlns:r="http://schemas.openxmlformats.org/officeDocument/2006/relationships" id="265" r:id="R220b0aed5ca644e5"/>
    <p:sldId xmlns:r="http://schemas.openxmlformats.org/officeDocument/2006/relationships" id="266" r:id="R2be5f42a98484634"/>
    <p:sldId xmlns:r="http://schemas.openxmlformats.org/officeDocument/2006/relationships" id="267" r:id="Rafa296187e4443a5"/>
    <p:sldId xmlns:r="http://schemas.openxmlformats.org/officeDocument/2006/relationships" id="268" r:id="Rc4b61c8941874bc6"/>
    <p:sldId xmlns:r="http://schemas.openxmlformats.org/officeDocument/2006/relationships" id="269" r:id="Rd2380a662c564535"/>
    <p:sldId xmlns:r="http://schemas.openxmlformats.org/officeDocument/2006/relationships" id="270" r:id="Ra8c76cb3f7574ba0"/>
    <p:sldId xmlns:r="http://schemas.openxmlformats.org/officeDocument/2006/relationships" id="271" r:id="R757cbde49b91471b"/>
    <p:sldId xmlns:r="http://schemas.openxmlformats.org/officeDocument/2006/relationships" id="272" r:id="Raa08a8f35e4f4fa1"/>
    <p:sldId xmlns:r="http://schemas.openxmlformats.org/officeDocument/2006/relationships" id="273" r:id="R214fb5cc32354b04"/>
    <p:sldId xmlns:r="http://schemas.openxmlformats.org/officeDocument/2006/relationships" id="274" r:id="Rb67191ae35f244a7"/>
    <p:sldId xmlns:r="http://schemas.openxmlformats.org/officeDocument/2006/relationships" id="275" r:id="R1282e71347424ae8"/>
    <p:sldId xmlns:r="http://schemas.openxmlformats.org/officeDocument/2006/relationships" id="276" r:id="R4ae34715b8e54602"/>
    <p:sldId xmlns:r="http://schemas.openxmlformats.org/officeDocument/2006/relationships" id="277" r:id="R45e3ffb62fc84fa9"/>
    <p:sldId xmlns:r="http://schemas.openxmlformats.org/officeDocument/2006/relationships" id="278" r:id="Rd1d3788f17ff4742"/>
    <p:sldId xmlns:r="http://schemas.openxmlformats.org/officeDocument/2006/relationships" id="279" r:id="R2ad856030d234f32"/>
    <p:sldId xmlns:r="http://schemas.openxmlformats.org/officeDocument/2006/relationships" id="280" r:id="R52d5e30d8ede48ac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5318eaf7eb43d6" /><Relationship Type="http://schemas.openxmlformats.org/officeDocument/2006/relationships/slideMaster" Target="/ppt/slideMasters/slideMaster1.xml" Id="R7d00bc6bfb4c49f3" /><Relationship Type="http://schemas.openxmlformats.org/officeDocument/2006/relationships/notesMaster" Target="/ppt/notesMasters/notesMaster1.xml" Id="Ra1465c29ed1d44a4" /><Relationship Type="http://schemas.openxmlformats.org/officeDocument/2006/relationships/presProps" Target="/ppt/presProps.xml" Id="Rc1bf286818aa451f" /><Relationship Type="http://schemas.openxmlformats.org/officeDocument/2006/relationships/viewProps" Target="/ppt/viewProps.xml" Id="R9fea2b77365b4fbf" /><Relationship Type="http://schemas.openxmlformats.org/officeDocument/2006/relationships/tableStyles" Target="/ppt/tableStyles.xml" Id="R57b318289d8949e9" /><Relationship Type="http://schemas.openxmlformats.org/officeDocument/2006/relationships/slide" Target="/ppt/slides/slide1.xml" Id="R6807c658c69d47f8" /><Relationship Type="http://schemas.openxmlformats.org/officeDocument/2006/relationships/slide" Target="/ppt/slides/slide2.xml" Id="Rbc599fbca8244135" /><Relationship Type="http://schemas.openxmlformats.org/officeDocument/2006/relationships/slide" Target="/ppt/slides/slide3.xml" Id="R9bede16ce09445a1" /><Relationship Type="http://schemas.openxmlformats.org/officeDocument/2006/relationships/slide" Target="/ppt/slides/slide4.xml" Id="R317c1e54ce9a482b" /><Relationship Type="http://schemas.openxmlformats.org/officeDocument/2006/relationships/slide" Target="/ppt/slides/slide5.xml" Id="Ra96a6a7814234c48" /><Relationship Type="http://schemas.openxmlformats.org/officeDocument/2006/relationships/slide" Target="/ppt/slides/slide6.xml" Id="Rdc8f0e1f42724910" /><Relationship Type="http://schemas.openxmlformats.org/officeDocument/2006/relationships/slide" Target="/ppt/slides/slide7.xml" Id="R13fbdd26d3aa4c71" /><Relationship Type="http://schemas.openxmlformats.org/officeDocument/2006/relationships/slide" Target="/ppt/slides/slide8.xml" Id="Re91031259456458d" /><Relationship Type="http://schemas.openxmlformats.org/officeDocument/2006/relationships/slide" Target="/ppt/slides/slide9.xml" Id="R27c774064121460a" /><Relationship Type="http://schemas.openxmlformats.org/officeDocument/2006/relationships/slide" Target="/ppt/slides/slide10.xml" Id="R220b0aed5ca644e5" /><Relationship Type="http://schemas.openxmlformats.org/officeDocument/2006/relationships/slide" Target="/ppt/slides/slide11.xml" Id="R2be5f42a98484634" /><Relationship Type="http://schemas.openxmlformats.org/officeDocument/2006/relationships/slide" Target="/ppt/slides/slide12.xml" Id="Rafa296187e4443a5" /><Relationship Type="http://schemas.openxmlformats.org/officeDocument/2006/relationships/slide" Target="/ppt/slides/slide13.xml" Id="Rc4b61c8941874bc6" /><Relationship Type="http://schemas.openxmlformats.org/officeDocument/2006/relationships/slide" Target="/ppt/slides/slide14.xml" Id="Rd2380a662c564535" /><Relationship Type="http://schemas.openxmlformats.org/officeDocument/2006/relationships/slide" Target="/ppt/slides/slide15.xml" Id="Ra8c76cb3f7574ba0" /><Relationship Type="http://schemas.openxmlformats.org/officeDocument/2006/relationships/slide" Target="/ppt/slides/slide16.xml" Id="R757cbde49b91471b" /><Relationship Type="http://schemas.openxmlformats.org/officeDocument/2006/relationships/slide" Target="/ppt/slides/slide17.xml" Id="Raa08a8f35e4f4fa1" /><Relationship Type="http://schemas.openxmlformats.org/officeDocument/2006/relationships/slide" Target="/ppt/slides/slide18.xml" Id="R214fb5cc32354b04" /><Relationship Type="http://schemas.openxmlformats.org/officeDocument/2006/relationships/slide" Target="/ppt/slides/slide19.xml" Id="Rb67191ae35f244a7" /><Relationship Type="http://schemas.openxmlformats.org/officeDocument/2006/relationships/slide" Target="/ppt/slides/slide20.xml" Id="R1282e71347424ae8" /><Relationship Type="http://schemas.openxmlformats.org/officeDocument/2006/relationships/slide" Target="/ppt/slides/slide21.xml" Id="R4ae34715b8e54602" /><Relationship Type="http://schemas.openxmlformats.org/officeDocument/2006/relationships/slide" Target="/ppt/slides/slide22.xml" Id="R45e3ffb62fc84fa9" /><Relationship Type="http://schemas.openxmlformats.org/officeDocument/2006/relationships/slide" Target="/ppt/slides/slide23.xml" Id="Rd1d3788f17ff4742" /><Relationship Type="http://schemas.openxmlformats.org/officeDocument/2006/relationships/slide" Target="/ppt/slides/slide24.xml" Id="R2ad856030d234f32" /><Relationship Type="http://schemas.openxmlformats.org/officeDocument/2006/relationships/slide" Target="/ppt/slides/slide25.xml" Id="R52d5e30d8ede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a80ba2b10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baac76c5f4b8a" /><Relationship Type="http://schemas.openxmlformats.org/officeDocument/2006/relationships/notesMaster" Target="/ppt/notesMasters/notesMaster1.xml" Id="Rf3661f5f48da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ca7dc0eb44433" /><Relationship Type="http://schemas.openxmlformats.org/officeDocument/2006/relationships/notesMaster" Target="/ppt/notesMasters/notesMaster1.xml" Id="R12bd1c3ce876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ba1a826964408" /><Relationship Type="http://schemas.openxmlformats.org/officeDocument/2006/relationships/notesMaster" Target="/ppt/notesMasters/notesMaster1.xml" Id="R2ecf8c639c8d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52e2649e94e89" /><Relationship Type="http://schemas.openxmlformats.org/officeDocument/2006/relationships/notesMaster" Target="/ppt/notesMasters/notesMaster1.xml" Id="Rdbf40b5d067a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bea372d3f432f" /><Relationship Type="http://schemas.openxmlformats.org/officeDocument/2006/relationships/notesMaster" Target="/ppt/notesMasters/notesMaster1.xml" Id="Rb765bd28c2fb41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aaee9375d04d19" /><Relationship Type="http://schemas.openxmlformats.org/officeDocument/2006/relationships/notesMaster" Target="/ppt/notesMasters/notesMaster1.xml" Id="R4bef6379ae3c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84fafb59a4c28" /><Relationship Type="http://schemas.openxmlformats.org/officeDocument/2006/relationships/notesMaster" Target="/ppt/notesMasters/notesMaster1.xml" Id="R76ece58e865e47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513fb079694ee8" /><Relationship Type="http://schemas.openxmlformats.org/officeDocument/2006/relationships/notesMaster" Target="/ppt/notesMasters/notesMaster1.xml" Id="Ref13f364ff8148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33f2c8ce4c44e0" /><Relationship Type="http://schemas.openxmlformats.org/officeDocument/2006/relationships/notesMaster" Target="/ppt/notesMasters/notesMaster1.xml" Id="R0e5ec15c7847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069c0d13f487b" /><Relationship Type="http://schemas.openxmlformats.org/officeDocument/2006/relationships/notesMaster" Target="/ppt/notesMasters/notesMaster1.xml" Id="R079a7b1fe34d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aa88145aaf4718" /><Relationship Type="http://schemas.openxmlformats.org/officeDocument/2006/relationships/notesMaster" Target="/ppt/notesMasters/notesMaster1.xml" Id="R9bd4b6a5297646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5b0defd0814699" /><Relationship Type="http://schemas.openxmlformats.org/officeDocument/2006/relationships/notesMaster" Target="/ppt/notesMasters/notesMaster1.xml" Id="R641b822c036349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4fadeb2e834f2e" /><Relationship Type="http://schemas.openxmlformats.org/officeDocument/2006/relationships/notesMaster" Target="/ppt/notesMasters/notesMaster1.xml" Id="R65653da9c1e34c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c4554e5a034574" /><Relationship Type="http://schemas.openxmlformats.org/officeDocument/2006/relationships/notesMaster" Target="/ppt/notesMasters/notesMaster1.xml" Id="R9b13dce6db9249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2be54dc5604b44" /><Relationship Type="http://schemas.openxmlformats.org/officeDocument/2006/relationships/notesMaster" Target="/ppt/notesMasters/notesMaster1.xml" Id="R07b866a9ccd841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7c306076ed46a4" /><Relationship Type="http://schemas.openxmlformats.org/officeDocument/2006/relationships/notesMaster" Target="/ppt/notesMasters/notesMaster1.xml" Id="R86fa436f3dd64f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ba3b137c9d4673" /><Relationship Type="http://schemas.openxmlformats.org/officeDocument/2006/relationships/notesMaster" Target="/ppt/notesMasters/notesMaster1.xml" Id="R6b119946752548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91fad151c342dc" /><Relationship Type="http://schemas.openxmlformats.org/officeDocument/2006/relationships/notesMaster" Target="/ppt/notesMasters/notesMaster1.xml" Id="R3a8a1a7084a04f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70e6530e5f4fe6" /><Relationship Type="http://schemas.openxmlformats.org/officeDocument/2006/relationships/notesMaster" Target="/ppt/notesMasters/notesMaster1.xml" Id="Rcea53ee448d64f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a884fa0323467e" /><Relationship Type="http://schemas.openxmlformats.org/officeDocument/2006/relationships/notesMaster" Target="/ppt/notesMasters/notesMaster1.xml" Id="R123a541b014e4e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22941db51c49ad" /><Relationship Type="http://schemas.openxmlformats.org/officeDocument/2006/relationships/notesMaster" Target="/ppt/notesMasters/notesMaster1.xml" Id="R15b9ca6e054d48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95277352f44bad" /><Relationship Type="http://schemas.openxmlformats.org/officeDocument/2006/relationships/notesMaster" Target="/ppt/notesMasters/notesMaster1.xml" Id="R948442de298449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37e6b3204b456e" /><Relationship Type="http://schemas.openxmlformats.org/officeDocument/2006/relationships/notesMaster" Target="/ppt/notesMasters/notesMaster1.xml" Id="Rd8fb58ed0fe845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ee6af9fce14593" /><Relationship Type="http://schemas.openxmlformats.org/officeDocument/2006/relationships/notesMaster" Target="/ppt/notesMasters/notesMaster1.xml" Id="R41a4afeb93fd42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0c5a756bd04427b" /><Relationship Type="http://schemas.openxmlformats.org/officeDocument/2006/relationships/notesMaster" Target="/ppt/notesMasters/notesMaster1.xml" Id="R626e5400554f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  <a:endParaRPr/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Programación MP0485 2026–2027 aportada por la docente.</a:t>
            </a:r>
          </a:p>
          <a:p xmlns:a="http://schemas.openxmlformats.org/drawingml/2006/main">
            <a:r>
              <a:t>Java Language Specification, Java SE 25: https://docs.oracle.com/javase/specs/jls/se25/html/</a:t>
            </a:r>
          </a:p>
          <a:p xmlns:a="http://schemas.openxmlformats.org/drawingml/2006/main">
            <a:r>
              <a:t>Java SE 25 API: https://docs.oracle.com/en/java/javase/25/docs/api/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4c5ece90d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e814b36d94638" /><Relationship Type="http://schemas.openxmlformats.org/officeDocument/2006/relationships/slideLayout" Target="/ppt/slideLayouts/slideLayout1.xml" Id="Rc04473f262434d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473f262434d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47ef5f3ec4168" /><Relationship Type="http://schemas.openxmlformats.org/officeDocument/2006/relationships/image" Target="/ppt/media/image.jpeg" Id="R82fe41c412784a6b" /><Relationship Type="http://schemas.openxmlformats.org/officeDocument/2006/relationships/notesSlide" Target="/ppt/notesSlides/notesSlide1.xml" Id="Rfc46cba15152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ca3efa69d4690" /><Relationship Type="http://schemas.openxmlformats.org/officeDocument/2006/relationships/image" Target="/ppt/media/image.jpeg" Id="Rd26368a0f5f24b37" /><Relationship Type="http://schemas.openxmlformats.org/officeDocument/2006/relationships/notesSlide" Target="/ppt/notesSlides/notesSlide2.xml" Id="Rdd5378f197bd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73265a151448e" /><Relationship Type="http://schemas.openxmlformats.org/officeDocument/2006/relationships/image" Target="/ppt/media/image.jpeg" Id="R4a878ce733a64ae7" /><Relationship Type="http://schemas.openxmlformats.org/officeDocument/2006/relationships/notesSlide" Target="/ppt/notesSlides/notesSlide3.xml" Id="Re7cbec232b1148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4d2cca94a43dd" /><Relationship Type="http://schemas.openxmlformats.org/officeDocument/2006/relationships/image" Target="/ppt/media/image.jpeg" Id="Reb992ff9fe4d453b" /><Relationship Type="http://schemas.openxmlformats.org/officeDocument/2006/relationships/notesSlide" Target="/ppt/notesSlides/notesSlide4.xml" Id="R7153f65bead1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b56a91e224112" /><Relationship Type="http://schemas.openxmlformats.org/officeDocument/2006/relationships/image" Target="/ppt/media/image.jpeg" Id="Ra6a772763b5e4277" /><Relationship Type="http://schemas.openxmlformats.org/officeDocument/2006/relationships/notesSlide" Target="/ppt/notesSlides/notesSlide5.xml" Id="R16b37a6d4f9e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6e5b8718a472c" /><Relationship Type="http://schemas.openxmlformats.org/officeDocument/2006/relationships/image" Target="/ppt/media/image.jpeg" Id="R417aeeeb44384e5a" /><Relationship Type="http://schemas.openxmlformats.org/officeDocument/2006/relationships/notesSlide" Target="/ppt/notesSlides/notesSlide6.xml" Id="R2cc801da6ba0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1583df89d4c3a" /><Relationship Type="http://schemas.openxmlformats.org/officeDocument/2006/relationships/image" Target="/ppt/media/image.jpeg" Id="R3abc5905a56e4172" /><Relationship Type="http://schemas.openxmlformats.org/officeDocument/2006/relationships/notesSlide" Target="/ppt/notesSlides/notesSlide7.xml" Id="Re920dbe120e8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4bfaf3b754f94" /><Relationship Type="http://schemas.openxmlformats.org/officeDocument/2006/relationships/image" Target="/ppt/media/image.jpeg" Id="Rb23183e09ad342c7" /><Relationship Type="http://schemas.openxmlformats.org/officeDocument/2006/relationships/notesSlide" Target="/ppt/notesSlides/notesSlide8.xml" Id="R20ff4fb16461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579a70f504a4c" /><Relationship Type="http://schemas.openxmlformats.org/officeDocument/2006/relationships/image" Target="/ppt/media/image.jpeg" Id="Rc3ab3bd699584059" /><Relationship Type="http://schemas.openxmlformats.org/officeDocument/2006/relationships/notesSlide" Target="/ppt/notesSlides/notesSlide9.xml" Id="Rc200ecde563043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c04302df044ef" /><Relationship Type="http://schemas.openxmlformats.org/officeDocument/2006/relationships/image" Target="/ppt/media/image.jpeg" Id="R3db2278c34fa4f0f" /><Relationship Type="http://schemas.openxmlformats.org/officeDocument/2006/relationships/notesSlide" Target="/ppt/notesSlides/notesSlide10.xml" Id="R9af8eed461ee4e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bd74b09340cd" /><Relationship Type="http://schemas.openxmlformats.org/officeDocument/2006/relationships/image" Target="/ppt/media/image.jpeg" Id="Rfcc98c26e251406f" /><Relationship Type="http://schemas.openxmlformats.org/officeDocument/2006/relationships/notesSlide" Target="/ppt/notesSlides/notesSlide11.xml" Id="Rdc357474f59c48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f1322ebd149a5" /><Relationship Type="http://schemas.openxmlformats.org/officeDocument/2006/relationships/image" Target="/ppt/media/image.jpeg" Id="Ra2f9202961224945" /><Relationship Type="http://schemas.openxmlformats.org/officeDocument/2006/relationships/notesSlide" Target="/ppt/notesSlides/notesSlide12.xml" Id="Rb22c26dfb2ae47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fbe1a7d324002" /><Relationship Type="http://schemas.openxmlformats.org/officeDocument/2006/relationships/image" Target="/ppt/media/image.jpeg" Id="R9bc56faddf824824" /><Relationship Type="http://schemas.openxmlformats.org/officeDocument/2006/relationships/notesSlide" Target="/ppt/notesSlides/notesSlide13.xml" Id="R949a4ceafda34a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77cb06bd84dbf" /><Relationship Type="http://schemas.openxmlformats.org/officeDocument/2006/relationships/image" Target="/ppt/media/image.jpeg" Id="R04621f9be5d84f06" /><Relationship Type="http://schemas.openxmlformats.org/officeDocument/2006/relationships/notesSlide" Target="/ppt/notesSlides/notesSlide14.xml" Id="R2342c57d1e254c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d697421d04f21" /><Relationship Type="http://schemas.openxmlformats.org/officeDocument/2006/relationships/image" Target="/ppt/media/image.jpeg" Id="Rbf042b9ce4414894" /><Relationship Type="http://schemas.openxmlformats.org/officeDocument/2006/relationships/notesSlide" Target="/ppt/notesSlides/notesSlide15.xml" Id="R1935f29b7ebb47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007ed7e24813" /><Relationship Type="http://schemas.openxmlformats.org/officeDocument/2006/relationships/image" Target="/ppt/media/image.jpeg" Id="R81d31457e61d4f77" /><Relationship Type="http://schemas.openxmlformats.org/officeDocument/2006/relationships/notesSlide" Target="/ppt/notesSlides/notesSlide16.xml" Id="Re3ad121383d549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ecddde60f402c" /><Relationship Type="http://schemas.openxmlformats.org/officeDocument/2006/relationships/image" Target="/ppt/media/image.jpeg" Id="R667d55f260184d36" /><Relationship Type="http://schemas.openxmlformats.org/officeDocument/2006/relationships/notesSlide" Target="/ppt/notesSlides/notesSlide17.xml" Id="R0f28aeec614a4f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ac95c6578472c" /><Relationship Type="http://schemas.openxmlformats.org/officeDocument/2006/relationships/image" Target="/ppt/media/image.jpeg" Id="R1e3ec608e1d74974" /><Relationship Type="http://schemas.openxmlformats.org/officeDocument/2006/relationships/notesSlide" Target="/ppt/notesSlides/notesSlide18.xml" Id="R9133a5a038b84e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cec190f3d4b4a" /><Relationship Type="http://schemas.openxmlformats.org/officeDocument/2006/relationships/image" Target="/ppt/media/image.jpeg" Id="R16789b4022b94154" /><Relationship Type="http://schemas.openxmlformats.org/officeDocument/2006/relationships/notesSlide" Target="/ppt/notesSlides/notesSlide19.xml" Id="R0ed1a4f28a854b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864e8d06b42a0" /><Relationship Type="http://schemas.openxmlformats.org/officeDocument/2006/relationships/image" Target="/ppt/media/image.jpeg" Id="Rde05636103e44300" /><Relationship Type="http://schemas.openxmlformats.org/officeDocument/2006/relationships/notesSlide" Target="/ppt/notesSlides/notesSlide20.xml" Id="R579ff2a3247940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b31086dce489b" /><Relationship Type="http://schemas.openxmlformats.org/officeDocument/2006/relationships/image" Target="/ppt/media/image.jpeg" Id="R31f13617138b416a" /><Relationship Type="http://schemas.openxmlformats.org/officeDocument/2006/relationships/notesSlide" Target="/ppt/notesSlides/notesSlide21.xml" Id="R51a5704f4c164f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5fe65b624c50" /><Relationship Type="http://schemas.openxmlformats.org/officeDocument/2006/relationships/image" Target="/ppt/media/image.jpeg" Id="R1ffdf2e520d54d6c" /><Relationship Type="http://schemas.openxmlformats.org/officeDocument/2006/relationships/notesSlide" Target="/ppt/notesSlides/notesSlide22.xml" Id="R0d4fd46988974a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d228a1c8496f" /><Relationship Type="http://schemas.openxmlformats.org/officeDocument/2006/relationships/image" Target="/ppt/media/image.jpeg" Id="Rf068ad4f39954dcc" /><Relationship Type="http://schemas.openxmlformats.org/officeDocument/2006/relationships/notesSlide" Target="/ppt/notesSlides/notesSlide23.xml" Id="Re1813c7d283e4d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69d353af44c28" /><Relationship Type="http://schemas.openxmlformats.org/officeDocument/2006/relationships/image" Target="/ppt/media/image.jpeg" Id="Rb757a07b36a14ba6" /><Relationship Type="http://schemas.openxmlformats.org/officeDocument/2006/relationships/notesSlide" Target="/ppt/notesSlides/notesSlide24.xml" Id="R0af3e57fc8ee43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4e830fbe84f4d" /><Relationship Type="http://schemas.openxmlformats.org/officeDocument/2006/relationships/image" Target="/ppt/media/image.jpeg" Id="R60466b17664848ed" /><Relationship Type="http://schemas.openxmlformats.org/officeDocument/2006/relationships/notesSlide" Target="/ppt/notesSlides/notesSlide25.xml" Id="R72d0ac9e232c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D9327D2-88C2-4FE3-A892-298DAC0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5FAC226-E7D3-4AEF-83CF-3A5F7E96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C9F86FCF-AEF1-4318-BCE6-4FB0B72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4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e41c412784a6b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A4649B5-63DA-4680-971E-1DAE5313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4BA9593-2385-404E-871E-9096834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41901E4-57EE-4B6D-A1E7-59278F5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CFA207E-3830-4F8E-B09E-8825F8A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B7C91-B82F-4174-8803-B6649E24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TEMA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90B4F-4143-4031-B50F-7097808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VARIABLES, TIPOS Y OPERADORES EN JAVA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47E32-13B7-4549-889D-5A808411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Cómo representar datos, transformarlos y anticipar el resultado de una expresión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18667-78FE-40A2-B7FC-78E784F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05550"/>
            <a:ext cx="30670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   01–03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1C8DF-2DCA-4AB5-837D-AB13BF6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AEA1 · Fundamentos de programación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y estructuras de control</a:t>
            </a:r>
          </a:p>
        </p:txBody>
      </p:sp>
    </p:spTree>
    <p:extLst>
      <p:ext uri="{BB962C8B-B14F-4D97-AF65-F5344CB8AC3E}">
        <p14:creationId xmlns:p14="http://schemas.microsoft.com/office/powerpoint/2010/main" val="173038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368a0f5f24b37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38689F-958C-48FD-B23E-02A278E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 TERMINAR EL TEMA PODRÁS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E0E8CE-41F8-4653-9791-CB15B1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Predecir y justificar el tipo y el valor de cada expresión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576DC-64DB-4FEA-9630-0CF20403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Declarar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D93491-1289-402E-BDE7-B4205B7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Inicializar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6543CE-7808-4A9C-9202-3A59EDD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Calcular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CD63DB-3FC0-4123-A9AD-3EB7DEEF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Convertir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A5E2DC-6A68-41E3-8CF5-BC9931C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Comprobar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06FCBB-4D26-4A02-8C8E-E5C5DAE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635A24-59DD-4AD8-A48A-68FED1F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2D41B6-EA41-411B-89BE-7B69AE5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695155-B9E3-42B7-99E8-ADB2B54B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E88A46-E5F4-44DF-8BDF-DD0B82C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85725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F630A5-F76C-4370-B551-E41B882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489EB8-D551-4B9D-88D7-31D934C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975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La meta no es memorizar sintaxis: es explicar por qué cada variable admite determinados valores y operaciones.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78ce733a64ae7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95F7D-5328-4E43-97EC-BC501A6D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UNA VARIABLE UNE TRES IDEAS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F26A8-9FD0-44B1-AF2A-83C8CA4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Nombre, tipo y valor permiten describir el estado del programa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77C13-7201-435E-A7A7-2EE4CBA9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A152F7-96BE-42CA-A9F3-4AB4D0E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7F962E-3076-4597-AC4F-A327EB75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F5CFE-79DD-446D-A0C0-6F8B05D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8F5C17-9DE8-4F23-82FB-01FD4A3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7C901D-5B88-4612-93AD-371BBDA5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0F888-030C-468A-BC97-9737D206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72B59A-350D-4DEE-BF41-583795B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 ACTUAL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1CFD01-2F34-4551-AC96-39263F7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355BF1-38DD-494B-9D43-ECD879A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85725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AB6F3-4274-4C9B-AAC1-4A682378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3FA7FF-684F-4C20-8F1E-9815E0C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8650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El nombre localiza el dato; el tipo limita valores y operaciones; el valor puede cambiar durante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92ff9fe4d453b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C2F83-AEFD-4BD4-869E-BCF9726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DECLARAR ES PRESENTAR UNA VARIABLE AL COMPILADOR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364D76-3F45-4F20-AFE3-42F94D1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declaración fija el tipo y el identificador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963D0-0866-4C24-A706-2CAC779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 edad;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B9E3F-6F38-410C-8A1A-8E098DF9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91275C-4158-4BC2-8C0E-D701A34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075BF-419B-494E-9887-CFE4AD0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9A0"/>
          </a:solidFill>
          <a:ln xmlns:a="http://schemas.openxmlformats.org/drawingml/2006/main" w="14288">
            <a:solidFill>
              <a:srgbClr val="1559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3E0A3A-CCAA-4039-90FE-2702551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8FE2E7-9EFF-4FEB-90FD-AFA02528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741316-3D25-4BB5-88E4-999771E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72872-DE57-4679-8956-13D353C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edad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2AD9DF-DF0E-4CAE-BC84-D2162071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858F7-7BD4-4E8E-BD9C-7296A9A9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 utilizable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F19330-532F-4AF4-845A-7F6A58E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todavía no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6B8A0D-307B-44A0-8630-73F047A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911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tipo + nombre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D77387-FA12-4E01-B73E-90F9308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6AD17-97CB-4FCD-9DC3-9E40373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865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Declarar: int edad; todavía no permite leer la variable local.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F4E571-8000-417A-9FCD-A73F933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38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C55F7-C14F-4825-B86F-A4035292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38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Inicializar: edad = 18; proporciona el primer valor utilizable.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772763b5e4277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35B3A-5B03-48C7-A7D1-EABE5D47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INICIALIZAR EVITA LEER UN DATO INDEFINIDO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C2EA8-810A-4EBE-8A46-2D4BB44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Una variable local debe recibir un valor antes de utilizarse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2A21D6-A27F-49F8-A1B5-7C21835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5BA16-09E3-4480-AF5D-8D621F5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DECLARADA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51F43-B4C2-42AE-B0BA-1F0E53A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puntos;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puede leerse aún.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0441F6-B030-4DE9-B101-72D4AD1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50F7EC-CF83-449E-96CB-514C511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INICIALIZADA DESPUÉS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A9CAE7-572E-4600-96D7-FB42E25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puntos = 10;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Ya contiene un valor.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A2FBD-9A25-473E-AC3B-1417A76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FFA39B-8C39-4497-926B-F11E17F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UNA LÍNEA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F5A1F9-9124-46B0-A027-38D3892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puntos = 10;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Forma habitual.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2C7F4-0314-4304-A01D-1DA5FBF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8953500" cy="78105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3575F-A9A7-4749-9EF9-1FBF37E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638D67-F687-4A42-B223-8D92B4D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43625"/>
            <a:ext cx="861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La asignación de la derecha debe producir un valor compatible con el tipo declarado.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aeeeb44384e5a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A6E6E-7AC0-4744-9715-D79285D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ASIGNAR CAMBIA EL VALOR, NO EL TIPO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5EBFB-52A3-4870-A5FA-708AF34C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expresión de la derecha se calcula antes de guardar el resultado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6379A9-D078-41C7-9606-BB7AE29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DD404-C4B3-4308-8056-BEC1219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vidas = 3;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A046A-7286-416D-B93A-DABE22F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1862B0-9EF0-4CC3-8F56-CF7F6E7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vidas = 2;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33B5F9-8D5A-4E7C-A5C4-C99FA16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486E55-F7D3-46EE-AD08-CDA53479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System.out.println(vidas);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A81D0-9A8E-4359-B2DE-80877C1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F48C42-A2E4-4CA9-9F3A-6DC88E6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0C3867-50E0-444F-A23F-6941327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1000125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C7EF0-EA89-4952-AF4B-374A3B2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DCFEA-CD16-4BDD-9302-A0E72AD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05500"/>
            <a:ext cx="9848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La variable sigue siendo int; solo cambia su valor actual de 3 a 2.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c5905a56e4172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1F9742-DA61-483F-9796-C74C60E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 BUEN IDENTIFICADOR EXPLICA EL PAPEL DEL DATO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801700-FFFB-4EE6-9253-8F3F4F0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Java distingue mayúsculas y aplica reglas además de convenciones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240EC7-E5EC-4786-9B29-55046B2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857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Identificador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2785E5-7BD2-427E-AB3E-0FC0A41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39528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Valoración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81B8C-5A4E-4ED9-8695-D6E38E6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41433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Motivo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5B889-C283-4324-AB35-9D9667E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432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D57455-8D89-4EBE-AB02-89B263B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totalCompra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4E7905-191F-469A-BEE2-88EFC05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D74FB-D7C2-4C71-860E-A08588D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Correcto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63EA44-1A21-480A-86C9-1EA26F2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432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20D73D-14D3-4299-B167-E4BA458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camelCase y significado claro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0AD9EE-4EC7-4FB4-815A-4A46964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046F14-FE82-4612-9292-0336D80C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numeroIntentos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B9F338-C9D5-42C3-B02F-5E1688D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C28DDB-A8BF-4222-9C4F-0019D7E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Correcto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695CDB-E7F4-4275-832C-8107F3E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DB90E8-336A-4AD2-9E04-E3930CB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describe el dato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127EDA-04D1-4ED0-9241-FB859C6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653CC8-E632-4592-85FC-5340737B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7A939F-648E-4A30-9C0E-30137A3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815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1097FB-6CA0-484F-A238-D5D38AE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958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Evitar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3E54AD-6C8D-4C35-9F44-6D35F1E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A6ACFB-6DD8-4741-92AB-247F85E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explica qué representa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5EAF0B-E318-4336-9A3D-39425B7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079C91-835B-4A42-A3EC-535CA8C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2edad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862728-D637-4B8A-82D1-1A2FFE9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006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0CC03-0BB0-4E9C-94B5-B9801E6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149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Incorrecto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EB32DE-2F18-4776-9F15-2C19508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006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9C76B4-B533-4E6A-AC6D-D0E24EC2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149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puede empezar por cifra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61E83F-CBE4-4AFF-9CF1-5E7F2EAA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F58C94-4A1C-49C3-AFB5-5479C66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class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5C9E58-FF3D-4277-AE5B-80139A7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2198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C521BE-3BE8-472D-8F19-7105007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3341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Incorrecto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4C85E-C10E-4C16-B640-3958472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198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E68072-693E-49F0-B2C0-0D3E8FF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3341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palabra reservada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6E8D9E-7252-4A5C-9647-3413E72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C5E18C-B8B8-4D07-B310-5BF0DBB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532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precio-total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A4FACE-8EE9-40A3-9A16-4D49A8A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0389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8C4EE4-CB35-4A80-AB85-D71D001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1532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Incorrecto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D17C2F-B29D-4038-A009-470AE4E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389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EB9D50-5985-40CB-997E-3BFB812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1532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guion no está permitido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183e09ad342c7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46A975-D7BF-42F0-8382-5A1D8F7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 TIENE OCHO TIPOS PRIMITIVOS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E5EB1-8D48-4F6C-848D-8630E28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4E9BB9-4AB1-4527-8D43-2C82C7D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7A5BA-CD1E-4414-9653-4B80072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 · short · int · long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74D453-6958-4D1B-AD6C-9D14658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CED2C4-15E7-49F6-A5B6-89D9283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DECIMALES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4549C-3876-4B23-97CE-58CE3BD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float · double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A7DAA7-87F4-429D-B75E-9A60CA1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236D95-3424-408F-AEDC-1DF0667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CARÁCTER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36E183-8547-487A-BDFC-E763A9F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F1998A-77CE-487D-8BBA-B65F689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89894-4B76-4601-BBDC-321E007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LÓGICO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6F1A96-7EA3-4941-839B-28398F4F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boolean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1025FD-51E5-4288-96B9-5B2CE14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3E2DEE-C5F0-45E9-8123-E97CC41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TEXTO: NO PRIMITIVO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7390B-EEAB-45E6-BC97-90B1A41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String es una clase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D004E8-B1B8-40FE-9066-AE0BAFB4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231724-7093-4408-BD3D-F4002A1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TIPO Y OPERACIONES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0E22F2-E424-4636-B97D-967B3C0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compilador comprueba la compatibilidad de los datos y las expresiones.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b3bd699584059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1F9742-DA61-483F-9796-C74C60E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LOS ENTEROS CAMBIAN EN RANGO, NO EN SIGNIFICADO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801700-FFFB-4EE6-9253-8F3F4F0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Los cuatro tipos representan números enteros con signo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240EC7-E5EC-4786-9B29-55046B2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857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2785E5-7BD2-427E-AB3E-0FC0A41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39528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81B8C-5A4E-4ED9-8695-D6E38E6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41433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Rango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5B889-C283-4324-AB35-9D9667E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432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D57455-8D89-4EBE-AB02-89B263B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4E7905-191F-469A-BEE2-88EFC05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D74FB-D7C2-4C71-860E-A08588D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63EA44-1A21-480A-86C9-1EA26F2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432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20D73D-14D3-4299-B167-E4BA458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−128 a 127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0AD9EE-4EC7-4FB4-815A-4A46964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046F14-FE82-4612-9292-0336D80C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short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B9F338-C9D5-42C3-B02F-5E1688D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C28DDB-A8BF-4222-9C4F-0019D7E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695CDB-E7F4-4275-832C-8107F3E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DB90E8-336A-4AD2-9E04-E3930CB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−32 768 a 32 767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127EDA-04D1-4ED0-9241-FB859C6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653CC8-E632-4592-85FC-5340737B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7A939F-648E-4A30-9C0E-30137A3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815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1097FB-6CA0-484F-A238-D5D38AE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958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3E54AD-6C8D-4C35-9F44-6D35F1E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A6ACFB-6DD8-4741-92AB-247F85E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−2 147 483 648 a 2 147 483 647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5EAF0B-E318-4336-9A3D-39425B7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079C91-835B-4A42-A3EC-535CA8C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862728-D637-4B8A-82D1-1A2FFE9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006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0CC03-0BB0-4E9C-94B5-B9801E6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149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EB32DE-2F18-4776-9F15-2C19508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006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9C76B4-B533-4E6A-AC6D-D0E24EC2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149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aprox. ±9,22×10¹⁸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61E83F-CBE4-4AFF-9CF1-5E7F2EAA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F58C94-4A1C-49C3-AFB5-5479C66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Elección habitual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5C9E58-FF3D-4277-AE5B-80139A7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2198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C521BE-3BE8-472D-8F19-7105007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3341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4C85E-C10E-4C16-B640-3958472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198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E68072-693E-49F0-B2C0-0D3E8FF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3341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para contadores y cantidades ordinarias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6E8D9E-7252-4A5C-9647-3413E72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C5E18C-B8B8-4D07-B310-5BF0DBB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532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Valores muy grandes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A4FACE-8EE9-40A3-9A16-4D49A8A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0389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8C4EE4-CB35-4A80-AB85-D71D001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1532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D17C2F-B29D-4038-A009-470AE4E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389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EB9D50-5985-40CB-997E-3BFB812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1532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añade L al literal cuando sea necesario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2278c34fa4f0f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1E198C-ED4B-4FAF-A10C-E9E13DF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ELEGIR TIPO ES DECIDIR QUÉ VALORES SON VÁLIDOS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FCD53B-A0F0-4793-990A-C77E8585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rango necesario y las operaciones orientan la elección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EFBA0-F1B2-4E9F-BC3D-02DCB4A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Cantidad habitual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C77AE-FCCB-4574-B7BD-0A4CAA7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Cantidad muy grande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776D63-0B5F-4F20-89CE-9BC2E94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Uso específico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63B15D-4D64-4085-B52E-F8130D1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37F79-1719-4708-BF90-D1229D0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6D7D4D-8409-4AEB-A879-0EBD9467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 / short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2D3D94-4441-4F12-9E9E-739D92C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91250"/>
            <a:ext cx="9620250" cy="1000125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F95D6E-3F8B-4DA7-91D6-DADBB74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91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4FBCAC-EE16-44C3-9F99-6C0B163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286500"/>
            <a:ext cx="9277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Usa int por defecto; cambia a long si existe riesgo real de superar su rango.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98c26e251406f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95F7D-5328-4E43-97EC-BC501A6D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 LITERAL ES EL VALOR ESCRITO EN EL CÓDIGO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F26A8-9FD0-44B1-AF2A-83C8CA4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notación cambia, pero el compilador obtiene un valor y un tipo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77C13-7201-435E-A7A7-2EE4CBA9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A152F7-96BE-42CA-A9F3-4AB4D0E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DECIMAL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7F962E-3076-4597-AC4F-A327EB75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F5CFE-79DD-446D-A0C0-6F8B05D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8F5C17-9DE8-4F23-82FB-01FD4A3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BINARIO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7C901D-5B88-4612-93AD-371BBDA5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0b101010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0F888-030C-468A-BC97-9737D206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72B59A-350D-4DEE-BF41-583795B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HEXADECIMAL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1CFD01-2F34-4551-AC96-39263F7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0x2A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355BF1-38DD-494B-9D43-ECD879A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85725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AB6F3-4274-4C9B-AAC1-4A682378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3FA7FF-684F-4C20-8F1E-9815E0C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8650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Los guiones bajos facilitan la lectura: 1_000_000 equivale a 1000000.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9202961224945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46A975-D7BF-42F0-8382-5A1D8F7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FLOAT Y DOUBLE REPRESENTAN APROXIMACIONES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E5EB1-8D48-4F6C-848D-8630E28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4E9BB9-4AB1-4527-8D43-2C82C7D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7A5BA-CD1E-4414-9653-4B80072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64 bits y mayor precisión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74D453-6958-4D1B-AD6C-9D14658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CED2C4-15E7-49F6-A5B6-89D9283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4549C-3876-4B23-97CE-58CE3BD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32 bits y menor precisión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A7DAA7-87F4-429D-B75E-9A60CA1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236D95-3424-408F-AEDC-1DF0667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LITERAL DECIMAL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36E183-8547-487A-BDFC-E763A9F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2.5 es double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F1998A-77CE-487D-8BBA-B65F689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89894-4B76-4601-BBDC-321E007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USO HABITUAL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6F1A96-7EA3-4941-839B-28398F4F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para cálculos generales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1025FD-51E5-4288-96B9-5B2CE14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3E2DEE-C5F0-45E9-8123-E97CC41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SUFIJO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7390B-EEAB-45E6-BC97-90B1A41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2.5F indica float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D004E8-B1B8-40FE-9066-AE0BAFB4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231724-7093-4408-BD3D-F4002A1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ADVERTENCIA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0E22F2-E424-4636-B97D-967B3C0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exigir igualdad decimal exacta, especialmente en dinero.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56faddf82482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C2F83-AEFD-4BD4-869E-BCF9726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CHAR Y STRING NO REPRESENTAN LO MISMO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364D76-3F45-4F20-AFE3-42F94D1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char representa una unidad UTF-16; String representa texto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963D0-0866-4C24-A706-2CAC779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Más pequeño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B9E3F-6F38-410C-8A1A-8E098DF9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91275C-4158-4BC2-8C0E-D701A34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075BF-419B-494E-9887-CFE4AD0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9A0"/>
          </a:solidFill>
          <a:ln xmlns:a="http://schemas.openxmlformats.org/drawingml/2006/main" w="14288">
            <a:solidFill>
              <a:srgbClr val="1559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3E0A3A-CCAA-4039-90FE-2702551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'C'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comillas simples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8FE2E7-9EFF-4FEB-90FD-AFA02528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741316-3D25-4BB5-88E4-999771E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72872-DE57-4679-8956-13D353C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"Carmen"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comillas dobles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2AD9DF-DF0E-4CAE-BC84-D2162071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858F7-7BD4-4E8E-BD9C-7296A9A9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Concatenación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F19330-532F-4AF4-845A-7F6A58E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"Edad: " + 18 produce "Edad: 18"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6B8A0D-307B-44A0-8630-73F047A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911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Más expresivo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D77387-FA12-4E01-B73E-90F9308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6AD17-97CB-4FCD-9DC3-9E40373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865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char no es una cadena de longitud uno.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F4E571-8000-417A-9FCD-A73F933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38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C55F7-C14F-4825-B86F-A4035292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38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String es una clase, no uno de los ocho tipos primitivos.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21f9be5d84f0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35B3A-5B03-48C7-A7D1-EABE5D47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BOOLEAN SOLO ADMITE DOS VALORES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C2EA8-810A-4EBE-8A46-2D4BB44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No equivale a 0 o 1: representa una condición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2A21D6-A27F-49F8-A1B5-7C21835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5BA16-09E3-4480-AF5D-8D621F5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51F43-B4C2-42AE-B0BA-1F0E53A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true o false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0441F6-B030-4DE9-B101-72D4AD1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50F7EC-CF83-449E-96CB-514C511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EXPRESIÓN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A9CAE7-572E-4600-96D7-FB42E25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nota &gt;= 5 produce boolean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A2FBD-9A25-473E-AC3B-1417A76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FFA39B-8C39-4497-926B-F11E17F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F5A1F9-9124-46B0-A027-38D3892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if y while requieren condiciones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2C7F4-0314-4304-A01D-1DA5FBF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8953500" cy="78105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3575F-A9A7-4749-9EF9-1FBF37E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638D67-F687-4A42-B223-8D92B4D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43625"/>
            <a:ext cx="861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Primero se calcula la comparación; después puede guardarse el resultado en una variable boolean.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42b9ce441489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A6E6E-7AC0-4744-9715-D79285D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FINAL EXPRESA QUE UNA VARIABLE NO SE REASIGNA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5EBFB-52A3-4870-A5FA-708AF34C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Una constante recibe un valor y no puede asignarse de nuevo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6379A9-D078-41C7-9606-BB7AE29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DD404-C4B3-4308-8056-BEC1219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final double IVA = 0.21;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A046A-7286-416D-B93A-DABE22F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1862B0-9EF0-4CC3-8F56-CF7F6E7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IVA = 0.10;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33B5F9-8D5A-4E7C-A5C4-C99FA16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486E55-F7D3-46EE-AD08-CDA53479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Error de compilación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A81D0-9A8E-4359-B2DE-80877C1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F48C42-A2E4-4CA9-9F3A-6DC88E6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0C3867-50E0-444F-A23F-6941327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1000125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C7EF0-EA89-4952-AF4B-374A3B2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DCFEA-CD16-4BDD-9302-A0E72AD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05500"/>
            <a:ext cx="9848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Convención: las constantes se escriben en MAYÚSCULAS_CON_GUION_BAJO.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31457e61d4f77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9E2084-8881-47C4-A130-62DD92B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LOS OPERADORES ARITMÉTICOS PRODUCEN UN RESULTADO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4E9EDF-54C8-4D1C-92D2-BC7C880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Con a = 17 y b = 5 podemos anticipar cada expresión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B9B59-2E5F-460C-AFD6-96E3309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+  suma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754D7C-5A37-465A-83A4-43C7391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  resta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79F746-6CF3-48CE-8415-B8C9111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*  multiplicación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9E0CC8-3375-4B33-8A5D-A04CB4E2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  división · %  resto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F5EF56-26C1-45B1-8536-3D4CDE3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C58342-8D2C-4EBE-A99C-7007F903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DA10C5-095F-4A5F-88C1-C8FDCDF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F9DFF7-13CB-4D1B-90CB-135A8B8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409575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0F08F5-F08D-4CE2-9569-95B80EA2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38725"/>
            <a:ext cx="37528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a = 17;  int b = 5;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DE159C-06DE-494F-8294-3C2BA9A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476250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BDA7BE-E2E1-4833-877B-27632B0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38725"/>
            <a:ext cx="4419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a + b = 22 · a − b = 12 · a * b = 85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FCE476-4BCE-4A11-8A19-F647428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762750"/>
            <a:ext cx="7715250" cy="6477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90ABB1-FA66-48F8-A57F-BAF775C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76275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2FA0B2-970D-4CD6-BFD5-76E9A43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6858000"/>
            <a:ext cx="737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7D3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 / b = 3 · a % b = 2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d55f260184d3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736021-EAC2-4720-8295-4AD4DB6F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DIVISIÓN ENTERA Y MÓDULO RESPONDEN PREGUNTAS DISTINTAS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49AC1B-EB12-4C4D-8DA7-FFD122A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tipo de los operandos determina el tipo de división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90181A-8F21-46FB-A5CC-BEE463D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4476750" cy="1762125"/>
          </a:xfrm>
          <a:prstGeom xmlns:a="http://schemas.openxmlformats.org/drawingml/2006/main" prst="roundRect">
            <a:avLst>
              <a:gd name="adj" fmla="val 324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6B0ECD-C39E-4CBC-A910-D919C0A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41338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cociente = 17 / 5;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resto = 17 % 5;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7421C9-7A23-4BBF-AFB4-66E8D12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8137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A4D57D-83CE-4F39-AEB2-E177280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048250" cy="2381250"/>
          </a:xfrm>
          <a:prstGeom xmlns:a="http://schemas.openxmlformats.org/drawingml/2006/main" prst="roundRect">
            <a:avLst>
              <a:gd name="adj" fmla="val 24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FA773-177E-4738-AE20-2968C81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double media = 17 / 5;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Resultado: 3.0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D4817-BE87-47D6-8476-0DBA8C74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7AB381-F514-4455-9939-BD7B7FE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17 / 5 produce 3: grupos completos.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2680BF-99C2-46ED-A0FD-1C8C269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0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DF9B7F-4044-423E-A088-A153A20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4008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17 % 5 produce 2: cantidad sobrante.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ec608e1d7497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7B2AE0-6777-4B14-9B71-37FD3E5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PRECEDENCIA DECIDE QUÉ SE CALCULA PRIMERO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9C381-6DD7-4185-A16D-4441A22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Los paréntesis permiten expresar la intención sin ambigüedad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0F228-EBFA-45B0-AED2-55F0306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191000" cy="1476375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459AB-EC70-4D5A-BD07-1F9D7AE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3848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r = 2 + 3 * 4;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AB3070-6228-4BD5-8E3C-DE16A251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· Multiplica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98222F-0D56-4BEF-81C5-D6CA837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3189AD-661A-4D32-8EFF-D642750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 · Suma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2C9D26-B2B4-4D32-93A8-922A698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718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9D363E-27CA-475F-8090-04941611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Resultado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870159-E994-4B96-85AE-B4F4E92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904875"/>
          </a:xfrm>
          <a:prstGeom xmlns:a="http://schemas.openxmlformats.org/drawingml/2006/main" prst="roundRect">
            <a:avLst>
              <a:gd name="adj" fmla="val 631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6A4C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D21681-3D11-49FB-AFD4-C16CE86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6C6AA1-C92D-45B5-A7F0-514D27A5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9563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A4C9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A4C93"/>
                </a:solidFill>
                <a:latin typeface="Calibri"/>
                <a:ea typeface="Calibri"/>
                <a:cs typeface="Calibri"/>
              </a:rPr>
              <a:t>Primero 3 * 4 = 12; después 2 + 12 = 14.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6A4C9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A4C93"/>
                </a:solidFill>
                <a:latin typeface="Calibri"/>
                <a:ea typeface="Calibri"/>
                <a:cs typeface="Calibri"/>
              </a:rPr>
              <a:t>Con paréntesis: (2 + 3) * 4 = 20.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21E20F-1D60-4CB9-878D-DA5C894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22AFD4-A4C5-4F74-AC63-5B1B636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CF42E3-312C-4570-8DEA-E093E70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43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2CEE35-21A9-430E-895B-5E0FD25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437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64EA48-9AB5-48D9-968A-7ED2B82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96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8050FE-A3E1-4F40-90FD-79D577C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96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89b4022b9415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19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09034-B370-4B1A-B1AE-92BB00E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LAS ASIGNACIONES COMPUESTAS ACTUALIZAN UNA VARIABLE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FE3439-397E-422B-958F-373B3F90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Forma extensa y forma compuesta expresan la misma actualización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13CC4-2F5C-49DE-A1B0-D6F2DF25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puntos = puntos + 5;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BCEB4D-296B-4E43-A372-102721B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3048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3B6672-97C2-4D01-96D2-C18575B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3048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87CA55-701A-4E45-B8E8-4BC7CDC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572000" cy="1666875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411953-3FF8-432D-8C6A-AAC03505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FORMA EXTENSA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F29349-52F5-4E91-BC51-1106AD3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4229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Guarda puntos + 5 en puntos.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D2D3DF-A868-4B42-B9F9-EAAFD33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572000" cy="1666875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AD86CD-9AD0-4FFD-B57B-D9532CE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FORMA COMPUESTA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01935-4EB1-4C38-BBFB-8BF372D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71975"/>
            <a:ext cx="4229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puntos += 5;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EFC72D-4962-45AD-9A31-41227C59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3048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C99C5C-A5E6-4598-8464-6B3CF37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57200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E48C47-E172-46AA-9822-BBA460F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INCREMENTO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198C1F-C73A-4700-B163-C8155E4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05600"/>
            <a:ext cx="4229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Suma uno; evita ++ dentro de expresiones complejas.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64D49E-9206-46E7-8676-9640453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5238750" cy="876300"/>
          </a:xfrm>
          <a:prstGeom xmlns:a="http://schemas.openxmlformats.org/drawingml/2006/main" prst="roundRect">
            <a:avLst>
              <a:gd name="adj" fmla="val 652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0A63EE-E1F4-4562-A607-6532A0A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8F7E29-64DD-4569-BA19-450DF66F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29375"/>
            <a:ext cx="489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puntos++;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636103e44300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F23AA-E1C0-4B37-810A-1E498CD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UNA CONVERSIÓN AUTOMÁTICA NO DEBE PERDER RANGO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B41B86-96C5-4A9A-8B21-00A53773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6191250" cy="3429000"/>
          </a:xfrm>
          <a:prstGeom xmlns:a="http://schemas.openxmlformats.org/drawingml/2006/main" prst="roundRect">
            <a:avLst>
              <a:gd name="adj" fmla="val 1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5EF6AD-A054-4E7B-9B15-8B6476E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58483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unidades = 25;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long total = unidades;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EF6A0-7913-47F0-A155-EF75EBF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17145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2F47C0-7570-4D04-8663-8CF5D84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837564-F72D-45D0-8919-02EF624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3657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→ long amplía el rango y no exige casting.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C5E9F9-7DDB-482F-8DE3-4351C5C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000500" cy="17145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C37AA3-4E30-4B1C-982B-B7DE6D79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000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 MATICES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E17F63-C4B0-4E1A-BE2A-1AD8423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81600"/>
            <a:ext cx="3657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→ float es válido, pero enteros grandes pueden perder exactitud.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41703A-9310-47FC-B944-875C9568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00875"/>
            <a:ext cx="800100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BEDF40-6761-4F18-9279-19C79602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008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D3216D-3778-4ABC-BBCC-51CE774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096125"/>
            <a:ext cx="765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El compilador solo aplica automáticamente determinadas conversiones de ampliación.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13617138b416a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508F4-F921-4BE3-8D44-C5460A44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CASTING ACEPTA UNA POSIBLE PÉRDIDA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3381F-DB03-4DBD-8848-E1ABB3E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Una conversión explícita obliga a aceptar el cambio de tipo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99C315-BBE1-4E86-BC7D-83A8D53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7143750" cy="2286000"/>
          </a:xfrm>
          <a:prstGeom xmlns:a="http://schemas.openxmlformats.org/drawingml/2006/main" prst="roundRect">
            <a:avLst>
              <a:gd name="adj" fmla="val 25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05111-DC18-42CF-8F52-46B381C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68008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double nota = 7.9;</a:t>
            </a:r>
          </a:p>
          <a:p xmlns:a="http://schemas.openxmlformats.org/drawingml/2006/main">
            <a:r>
              <a:t>int entera = (int) nota;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// entera vale 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CFBE39-D0A6-439C-A57C-5039B3E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1809750"/>
          </a:xfrm>
          <a:prstGeom xmlns:a="http://schemas.openxmlformats.org/drawingml/2006/main" prst="roundRect">
            <a:avLst>
              <a:gd name="adj" fmla="val 315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968832-B835-4888-B088-F946C97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CEA558-1CAB-4F0D-B285-8CFB248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Elimina la parte decimal; no redondea.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F0A78-DF63-4AEE-AAA2-747832B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857500" cy="1809750"/>
          </a:xfrm>
          <a:prstGeom xmlns:a="http://schemas.openxmlformats.org/drawingml/2006/main" prst="roundRect">
            <a:avLst>
              <a:gd name="adj" fmla="val 315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1590F4-AAFD-4955-931B-1E10192E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857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RIESGO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8DB837-7635-4207-94AF-F692764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grande = 300;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 pequeño = (byte) grande;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// resultado: 44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2A655-F41F-4172-AA33-0F7813DF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8763000" cy="6858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70689B-7A42-4A0E-884B-7EDA538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782666-3282-4426-B5AB-EED411C2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86625"/>
            <a:ext cx="842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El casting compila, pero no garantiza que el valor obtenido tenga sentido.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f2e520d54d6c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8E4573-E632-4E56-95CC-DE4B0DB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DESBORDAMIENTO ENTERO: EL PROGRAMA NO AVISA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D21F6-ED25-4C23-84B5-F4E2153D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3849FE-3891-4828-8BA8-786CF85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14288">
            <a:solidFill>
              <a:srgbClr val="B3261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MÁXIMO int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4267D1-15BA-4F9E-A19D-AF08B5E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2 147 483 647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C50FF9-AD2B-4453-8A70-A8656BD0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4D4977-0684-47C6-A8E7-77B7579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SUMAR 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00257F-5FB6-4065-835C-265F97B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−2 147 483 648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AC8D4B-9D95-42E0-A35B-606868F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39CC81-CE0F-4C5B-A203-6E0317D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LÓGICO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0C8BEA-0FD7-4B64-9196-9F9E929E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programa continúa con un valor incorrecto.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D60122-09D8-4A2A-9CE0-1A3E405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29375"/>
            <a:ext cx="8572500" cy="78105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D68E1A-6F4F-443B-B730-9BB0450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29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FC732E-6B89-4D78-B190-31050A5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524625"/>
            <a:ext cx="822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Prevención: elegir long, validar el rango o utilizar Math.addExact cuando deba detectarse.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8ad4f39954dcc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F39B0B-6CAA-4276-A233-9AA7D4C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SEGUIR EL VALOR PASO A PASO EVITA ADIVINAR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957945-1B63-4A05-BFA9-F7DF219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Una traza separa cada cálculo y cada asignación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4129E-CC9C-484A-8095-343B99E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6858000" cy="3429000"/>
          </a:xfrm>
          <a:prstGeom xmlns:a="http://schemas.openxmlformats.org/drawingml/2006/main" prst="roundRect">
            <a:avLst>
              <a:gd name="adj" fmla="val 1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C421B8-274E-48B7-B379-972E095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57475"/>
            <a:ext cx="65151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unidades = 7;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double precio = 2.5;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cajas = unidades / 3;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sueltas = unidades % 3;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double total = unidades * precio;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D1E555-AFB1-4F0B-965B-31AE0B6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048000" cy="3429000"/>
          </a:xfrm>
          <a:prstGeom xmlns:a="http://schemas.openxmlformats.org/drawingml/2006/main" prst="roundRect">
            <a:avLst>
              <a:gd name="adj" fmla="val 187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86EFF-4F4F-4B8B-9A9A-24FA7B4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048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4B523-E9A7-452A-83EA-04609F2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33725"/>
            <a:ext cx="27051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7 / 3 produce 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7 % 3 produce 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int * double produce double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279AAF-0842-40D8-92D5-CA9AA3F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67500"/>
            <a:ext cx="80010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8D50DC-91AD-4CCA-BA82-7959A7A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6750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9D78F7-BE41-4E5B-BFED-38D527B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762750"/>
            <a:ext cx="7658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Resultado: cajas = 2 · sueltas = 1 · total = 17.5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7a07b36a14ba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A8FE1-5D05-46AD-84EA-A2584B13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LOS ERRORES MÁS FRECUENTES TIENEN PATRONES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220860-FEB6-4BF8-80F2-F0E2E63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Predice primero si el problema lo detectará el compilador o las pruebas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2961FE-E4C3-437F-A7D3-F4ED15E1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VARIABLE NO INICIALIZADA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n; println(n);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compila.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F8443-D3A6-4801-B586-74A8955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TIPO INCOMPATIBLE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edad = 18.5;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compila.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4C294D-435C-4B00-A31E-0145EF6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DIVISIÓN INESPERADA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r = 5 / 2;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Produce 2.0.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A24641-BA49-4AD6-8FD4-4EB23D7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LITERAL FUERA DE RANGO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n = 3_000_000_000;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Necesita long y sufijo 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4AD51C-1F52-494C-B1AF-B77355E7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CASTING CON PÉRDIDA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(int) 7.9 produce 7, no 8.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577E8B-374A-4D93-8141-A4D8F83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10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DESBORDAMIENTO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MAX_VALUE + 1 pasa al mínimo int.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04  ·  VARIABLES, TIPOS Y OPERADORES EN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66b17664848ed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01/03  ·  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6186E-70DB-4598-8EB9-40555B1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RESUMEN Y ACTIVIDAD: PREDICE, JUSTIFICA Y COMPRUEBA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C9C947-A1CE-47CB-B4F0-94BD9F7C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92C7CD-4783-4860-B9E7-4074574A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Una variable combina nombre, tipo y valor.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2E5383-46F0-44DE-864C-E859CE47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8207BD-0DBC-4BED-B10E-82423B8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Declarar no siempre significa inicializar.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26FBC7-E301-498B-869A-AD1A643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AEC67-FC2B-42A6-9D52-818D7EC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tipo determina el rango y las operaciones válidas.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C8D6C4-ECA6-4190-88DD-1A12A321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AA4A36-621B-4148-9CC0-E38AA010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división entera, las conversiones y el desbordamiento requieren atención.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9AB9D9-166B-47AD-AA9F-FBA4FA7C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2E22AC-D082-401B-BE1B-43F0453A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Predice el resultado antes de ejecutar y explica cada paso.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2B563C-F33B-4B10-B8F6-14B544EF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468C89-554F-43BB-9D45-5025CCF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Corrige las líneas que no compilan sin alterar el objetivo.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A3977A-D9F1-4694-BFED-17EA77F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34250"/>
            <a:ext cx="895350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6CE33F-96CF-41F5-8A6D-CA75328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34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7E0072-679F-4887-88E3-EA4C63A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429500"/>
            <a:ext cx="861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Actividad: indica tipo y valor final, justifica los errores y contrasta después con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2026-09-05T05:16:17.7870000Z</dcterms:created>
  <dcterms:modified xsi:type="dcterms:W3CDTF">2026-09-05T05:16:17.7870000Z</dcterms:modified>
</coreProperties>
</file>